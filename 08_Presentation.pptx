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B2635"/>
                </a:solidFill>
                <a:latin typeface="Calibri"/>
              </a:rPr>
              <a:t>Retrieval quality, 100K index, 40 paraphrased queries</a:t>
            </a:r>
          </a:p>
        </c:rich>
      </c:tx>
      <c:layout/>
      <c:overlay val="0"/>
    </c:title>
    <c:autoTitleDeleted val="0"/>
    <c:plotArea>
      <c:barChart>
        <c:barDir val="bar"/>
        <c:grouping val="clustered"/>
        <c:ser>
          <c:idx val="0"/>
          <c:order val="0"/>
          <c:tx>
            <c:strRef>
              <c:f>Sheet1!$B$1</c:f>
              <c:strCache>
                <c:ptCount val="1"/>
                <c:pt idx="0">
                  <c:v>nDCG@10</c:v>
                </c:pt>
              </c:strCache>
            </c:strRef>
          </c:tx>
          <c:spPr>
            <a:solidFill>
              <a:srgbClr val="0E9AA7"/>
            </a:solidFill>
          </c:spPr>
          <c:cat>
            <c:strRef>
              <c:f>Sheet1!$A$2:$A$5</c:f>
              <c:strCache>
                <c:ptCount val="4"/>
                <c:pt idx="0">
                  <c:v>BM25 only</c:v>
                </c:pt>
                <c:pt idx="1">
                  <c:v>Semantic only</c:v>
                </c:pt>
                <c:pt idx="2">
                  <c:v>Hybrid (RRF)</c:v>
                </c:pt>
                <c:pt idx="3">
                  <c:v>Hybrid + re-rank</c:v>
                </c:pt>
              </c:strCache>
            </c:strRef>
          </c:cat>
          <c:val>
            <c:numRef>
              <c:f>Sheet1!$B$2:$B$5</c:f>
              <c:numCache>
                <c:formatCode>General</c:formatCode>
                <c:ptCount val="4"/>
                <c:pt idx="0">
                  <c:v>0.8263</c:v>
                </c:pt>
                <c:pt idx="1">
                  <c:v>0.7988</c:v>
                </c:pt>
                <c:pt idx="2">
                  <c:v>0.8022</c:v>
                </c:pt>
                <c:pt idx="3">
                  <c:v>0.9345</c:v>
                </c:pt>
              </c:numCache>
            </c:numRef>
          </c:val>
        </c:ser>
        <c:ser>
          <c:idx val="1"/>
          <c:order val="1"/>
          <c:tx>
            <c:strRef>
              <c:f>Sheet1!$C$1</c:f>
              <c:strCache>
                <c:ptCount val="1"/>
                <c:pt idx="0">
                  <c:v>P@5</c:v>
                </c:pt>
              </c:strCache>
            </c:strRef>
          </c:tx>
          <c:spPr>
            <a:solidFill>
              <a:srgbClr val="F2A541"/>
            </a:solidFill>
          </c:spPr>
          <c:cat>
            <c:strRef>
              <c:f>Sheet1!$A$2:$A$5</c:f>
              <c:strCache>
                <c:ptCount val="4"/>
                <c:pt idx="0">
                  <c:v>BM25 only</c:v>
                </c:pt>
                <c:pt idx="1">
                  <c:v>Semantic only</c:v>
                </c:pt>
                <c:pt idx="2">
                  <c:v>Hybrid (RRF)</c:v>
                </c:pt>
                <c:pt idx="3">
                  <c:v>Hybrid + re-rank</c:v>
                </c:pt>
              </c:strCache>
            </c:strRef>
          </c:cat>
          <c:val>
            <c:numRef>
              <c:f>Sheet1!$C$2:$C$5</c:f>
              <c:numCache>
                <c:formatCode>General</c:formatCode>
                <c:ptCount val="4"/>
                <c:pt idx="0">
                  <c:v>0.745</c:v>
                </c:pt>
                <c:pt idx="1">
                  <c:v>0.645</c:v>
                </c:pt>
                <c:pt idx="2">
                  <c:v>0.65</c:v>
                </c:pt>
                <c:pt idx="3">
                  <c:v>0.89</c:v>
                </c:pt>
              </c:numCache>
            </c:numRef>
          </c:val>
        </c:ser>
        <c:dLbls>
          <c:numFmt formatCode="0.00" sourceLinked="0"/>
          <c:txPr>
            <a:bodyPr/>
            <a:lstStyle/>
            <a:p>
              <a:pPr>
                <a:defRPr sz="1000">
                  <a:solidFill>
                    <a:srgbClr val="1B2635"/>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8D0DA"/>
            </a:solidFill>
          </a:ln>
        </c:spPr>
        <c:txPr>
          <a:bodyPr/>
          <a:lstStyle/>
          <a:p>
            <a:pPr>
              <a:defRPr sz="1100">
                <a:solidFill>
                  <a:srgbClr val="1B2635"/>
                </a:solidFill>
              </a:defRPr>
            </a:pPr>
          </a:p>
        </c:txPr>
        <c:crossAx val="-2113994440"/>
        <c:crosses val="autoZero"/>
        <c:auto val="1"/>
        <c:lblAlgn val="ctr"/>
        <c:lblOffset val="100"/>
        <c:noMultiLvlLbl val="0"/>
      </c:catAx>
      <c:valAx>
        <c:axId val="-2113994440"/>
        <c:scaling>
          <c:max val="1.0"/>
          <c:min val="0.0"/>
        </c:scaling>
        <c:delete val="0"/>
        <c:axPos val="b"/>
        <c:majorGridlines>
          <c:spPr>
            <a:ln>
              <a:solidFill>
                <a:srgbClr val="DDE3EA"/>
              </a:solidFill>
            </a:ln>
          </c:spPr>
        </c:majorGridlines>
        <c:majorTickMark val="out"/>
        <c:minorTickMark val="none"/>
        <c:tickLblPos val="nextTo"/>
        <c:spPr>
          <a:ln>
            <a:noFill/>
          </a:ln>
        </c:spPr>
        <c:txPr>
          <a:bodyPr/>
          <a:lstStyle/>
          <a:p>
            <a:pPr>
              <a:defRPr sz="1000">
                <a:solidFill>
                  <a:srgbClr val="5B6B7F"/>
                </a:solidFill>
              </a:defRPr>
            </a:pPr>
          </a:p>
        </c:txPr>
        <c:crossAx val="-2068027336"/>
        <c:crosses val="autoZero"/>
      </c:valAx>
    </c:plotArea>
    <c:legend>
      <c:overlay val="0"/>
      <c:txPr>
        <a:bodyPr/>
        <a:lstStyle/>
        <a:p>
          <a:pPr>
            <a:defRPr sz="1100">
              <a:solidFill>
                <a:srgbClr val="5B6B7F"/>
              </a:solidFil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B2635"/>
                </a:solidFill>
                <a:latin typeface="Calibri"/>
              </a:rPr>
              <a:t>Model accuracy (R², held-out 20%)</a:t>
            </a:r>
          </a:p>
        </c:rich>
      </c:tx>
      <c:layout/>
      <c:overlay val="0"/>
    </c:title>
    <c:autoTitleDeleted val="0"/>
    <c:plotArea>
      <c:barChart>
        <c:barDir val="bar"/>
        <c:grouping val="clustered"/>
        <c:ser>
          <c:idx val="0"/>
          <c:order val="0"/>
          <c:tx>
            <c:strRef>
              <c:f>Sheet1!$B$1</c:f>
              <c:strCache>
                <c:ptCount val="1"/>
                <c:pt idx="0">
                  <c:v>R² (20K test rows)</c:v>
                </c:pt>
              </c:strCache>
            </c:strRef>
          </c:tx>
          <c:spPr>
            <a:solidFill>
              <a:srgbClr val="0E9AA7"/>
            </a:solidFill>
          </c:spPr>
          <c:cat>
            <c:strRef>
              <c:f>Sheet1!$A$2:$A$6</c:f>
              <c:strCache>
                <c:ptCount val="5"/>
                <c:pt idx="0">
                  <c:v>Fault risk (full)</c:v>
                </c:pt>
                <c:pt idx="1">
                  <c:v>Fault early-warning</c:v>
                </c:pt>
                <c:pt idx="2">
                  <c:v>Perf: Throughput</c:v>
                </c:pt>
                <c:pt idx="3">
                  <c:v>Perf: Latency</c:v>
                </c:pt>
                <c:pt idx="4">
                  <c:v>Perf: Call Drop Rate</c:v>
                </c:pt>
              </c:strCache>
            </c:strRef>
          </c:cat>
          <c:val>
            <c:numRef>
              <c:f>Sheet1!$B$2:$B$6</c:f>
              <c:numCache>
                <c:formatCode>General</c:formatCode>
                <c:ptCount val="5"/>
                <c:pt idx="0">
                  <c:v>0.9997</c:v>
                </c:pt>
                <c:pt idx="1">
                  <c:v>0.641</c:v>
                </c:pt>
                <c:pt idx="2">
                  <c:v>0.3284</c:v>
                </c:pt>
                <c:pt idx="3">
                  <c:v>0.1301</c:v>
                </c:pt>
                <c:pt idx="4">
                  <c:v>0.1906</c:v>
                </c:pt>
              </c:numCache>
            </c:numRef>
          </c:val>
        </c:ser>
        <c:dLbls>
          <c:numFmt formatCode="0.00" sourceLinked="0"/>
          <c:txPr>
            <a:bodyPr/>
            <a:lstStyle/>
            <a:p>
              <a:pPr>
                <a:defRPr sz="1000">
                  <a:solidFill>
                    <a:srgbClr val="1B2635"/>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8D0DA"/>
            </a:solidFill>
          </a:ln>
        </c:spPr>
        <c:txPr>
          <a:bodyPr/>
          <a:lstStyle/>
          <a:p>
            <a:pPr>
              <a:defRPr sz="1100">
                <a:solidFill>
                  <a:srgbClr val="1B2635"/>
                </a:solidFill>
              </a:defRPr>
            </a:pPr>
          </a:p>
        </c:txPr>
        <c:crossAx val="-2113994440"/>
        <c:crosses val="autoZero"/>
        <c:auto val="1"/>
        <c:lblAlgn val="ctr"/>
        <c:lblOffset val="100"/>
        <c:noMultiLvlLbl val="0"/>
      </c:catAx>
      <c:valAx>
        <c:axId val="-2113994440"/>
        <c:scaling>
          <c:max val="1.0"/>
          <c:min val="0.0"/>
        </c:scaling>
        <c:delete val="0"/>
        <c:axPos val="b"/>
        <c:majorGridlines>
          <c:spPr>
            <a:ln>
              <a:solidFill>
                <a:srgbClr val="DDE3EA"/>
              </a:solidFill>
            </a:ln>
          </c:spPr>
        </c:majorGridlines>
        <c:majorTickMark val="out"/>
        <c:minorTickMark val="none"/>
        <c:tickLblPos val="nextTo"/>
        <c:spPr>
          <a:ln>
            <a:noFill/>
          </a:ln>
        </c:spPr>
        <c:txPr>
          <a:bodyPr/>
          <a:lstStyle/>
          <a:p>
            <a:pPr>
              <a:defRPr sz="1000">
                <a:solidFill>
                  <a:srgbClr val="5B6B7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B2635"/>
                </a:solidFill>
                <a:latin typeface="Calibri"/>
              </a:rPr>
              <a:t>Embedding models (4K-case subset)</a:t>
            </a:r>
          </a:p>
        </c:rich>
      </c:tx>
      <c:layout/>
      <c:overlay val="0"/>
    </c:title>
    <c:autoTitleDeleted val="0"/>
    <c:plotArea>
      <c:barChart>
        <c:barDir val="bar"/>
        <c:grouping val="clustered"/>
        <c:ser>
          <c:idx val="0"/>
          <c:order val="0"/>
          <c:tx>
            <c:strRef>
              <c:f>Sheet1!$B$1</c:f>
              <c:strCache>
                <c:ptCount val="1"/>
                <c:pt idx="0">
                  <c:v>dense nDCG@10</c:v>
                </c:pt>
              </c:strCache>
            </c:strRef>
          </c:tx>
          <c:spPr>
            <a:solidFill>
              <a:srgbClr val="0E9AA7"/>
            </a:solidFill>
          </c:spPr>
          <c:cat>
            <c:strRef>
              <c:f>Sheet1!$A$2:$A$5</c:f>
              <c:strCache>
                <c:ptCount val="4"/>
                <c:pt idx="0">
                  <c:v>all-MiniLM-L6-v2</c:v>
                </c:pt>
                <c:pt idx="1">
                  <c:v>bge-small-en-v1.5</c:v>
                </c:pt>
                <c:pt idx="2">
                  <c:v>all-mpnet-base-v2</c:v>
                </c:pt>
                <c:pt idx="3">
                  <c:v>tfidf-lsa</c:v>
                </c:pt>
              </c:strCache>
            </c:strRef>
          </c:cat>
          <c:val>
            <c:numRef>
              <c:f>Sheet1!$B$2:$B$5</c:f>
              <c:numCache>
                <c:formatCode>General</c:formatCode>
                <c:ptCount val="4"/>
                <c:pt idx="0">
                  <c:v>0.735</c:v>
                </c:pt>
                <c:pt idx="1">
                  <c:v>0.7408</c:v>
                </c:pt>
                <c:pt idx="2">
                  <c:v>0.7055</c:v>
                </c:pt>
                <c:pt idx="3">
                  <c:v>0.5027</c:v>
                </c:pt>
              </c:numCache>
            </c:numRef>
          </c:val>
        </c:ser>
        <c:ser>
          <c:idx val="1"/>
          <c:order val="1"/>
          <c:tx>
            <c:strRef>
              <c:f>Sheet1!$C$1</c:f>
              <c:strCache>
                <c:ptCount val="1"/>
                <c:pt idx="0">
                  <c:v>hybrid nDCG@10</c:v>
                </c:pt>
              </c:strCache>
            </c:strRef>
          </c:tx>
          <c:spPr>
            <a:solidFill>
              <a:srgbClr val="F2A541"/>
            </a:solidFill>
          </c:spPr>
          <c:cat>
            <c:strRef>
              <c:f>Sheet1!$A$2:$A$5</c:f>
              <c:strCache>
                <c:ptCount val="4"/>
                <c:pt idx="0">
                  <c:v>all-MiniLM-L6-v2</c:v>
                </c:pt>
                <c:pt idx="1">
                  <c:v>bge-small-en-v1.5</c:v>
                </c:pt>
                <c:pt idx="2">
                  <c:v>all-mpnet-base-v2</c:v>
                </c:pt>
                <c:pt idx="3">
                  <c:v>tfidf-lsa</c:v>
                </c:pt>
              </c:strCache>
            </c:strRef>
          </c:cat>
          <c:val>
            <c:numRef>
              <c:f>Sheet1!$C$2:$C$5</c:f>
              <c:numCache>
                <c:formatCode>General</c:formatCode>
                <c:ptCount val="4"/>
                <c:pt idx="0">
                  <c:v>0.9453</c:v>
                </c:pt>
                <c:pt idx="1">
                  <c:v>0.9556</c:v>
                </c:pt>
                <c:pt idx="2">
                  <c:v>0.9325</c:v>
                </c:pt>
                <c:pt idx="3">
                  <c:v>0.816</c:v>
                </c:pt>
              </c:numCache>
            </c:numRef>
          </c:val>
        </c:ser>
        <c:dLbls>
          <c:numFmt formatCode="0.00" sourceLinked="0"/>
          <c:txPr>
            <a:bodyPr/>
            <a:lstStyle/>
            <a:p>
              <a:pPr>
                <a:defRPr sz="1000">
                  <a:solidFill>
                    <a:srgbClr val="1B2635"/>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8D0DA"/>
            </a:solidFill>
          </a:ln>
        </c:spPr>
        <c:txPr>
          <a:bodyPr/>
          <a:lstStyle/>
          <a:p>
            <a:pPr>
              <a:defRPr sz="1100">
                <a:solidFill>
                  <a:srgbClr val="1B2635"/>
                </a:solidFill>
              </a:defRPr>
            </a:pPr>
          </a:p>
        </c:txPr>
        <c:crossAx val="-2113994440"/>
        <c:crosses val="autoZero"/>
        <c:auto val="1"/>
        <c:lblAlgn val="ctr"/>
        <c:lblOffset val="100"/>
        <c:noMultiLvlLbl val="0"/>
      </c:catAx>
      <c:valAx>
        <c:axId val="-2113994440"/>
        <c:scaling>
          <c:max val="1.0"/>
          <c:min val="0.0"/>
        </c:scaling>
        <c:delete val="0"/>
        <c:axPos val="b"/>
        <c:majorGridlines>
          <c:spPr>
            <a:ln>
              <a:solidFill>
                <a:srgbClr val="DDE3EA"/>
              </a:solidFill>
            </a:ln>
          </c:spPr>
        </c:majorGridlines>
        <c:majorTickMark val="out"/>
        <c:minorTickMark val="none"/>
        <c:tickLblPos val="nextTo"/>
        <c:spPr>
          <a:ln>
            <a:noFill/>
          </a:ln>
        </c:spPr>
        <c:txPr>
          <a:bodyPr/>
          <a:lstStyle/>
          <a:p>
            <a:pPr>
              <a:defRPr sz="1000">
                <a:solidFill>
                  <a:srgbClr val="5B6B7F"/>
                </a:solidFill>
              </a:defRPr>
            </a:pPr>
          </a:p>
        </c:txPr>
        <c:crossAx val="-2068027336"/>
        <c:crosses val="autoZero"/>
      </c:valAx>
    </c:plotArea>
    <c:legend>
      <c:overlay val="0"/>
      <c:txPr>
        <a:bodyPr/>
        <a:lstStyle/>
        <a:p>
          <a:pPr>
            <a:defRPr sz="1100">
              <a:solidFill>
                <a:srgbClr val="5B6B7F"/>
              </a:solidFil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project: Project 4 of the PU Bootcamp GenAI capstone. One sentence: we turn 100K historical 5G network records into an assistant that finds similar incidents, explains them and recommends validated fixes.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Engineers in the NOC deal with recurring congestion, latency, call drops and faults. Searching history manually is slow. These three questions come straight from the brief and are what the system is built to answer.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at a glance. Every number here is produced by the code in the repo.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left to right. Top: the offline pipeline that turns the CSV into indexes and models. Middle: the online path through FastAPI, guardrails and the seven agents, with the judge able to send the plan back once. Bottom: LLM, feedback, monitoring and evaluation.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is numbers only, so the key design step is turning KPIs into the language engineers use. Thresholds are percentiles of the fleet, so they adapt to the data. Mention the two honest findings: the fault rate is near-deterministic and Issue Reported is noise.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retrieval: BM25 on a keyword field plus dense MiniLM vectors in FAISS, fused with Reciprocal Rank Fusion and re-ranked by symptom overlap and feedback. Metadata filters are applied before search, so top-k is always inside the filter. The chart compares strategies on paraphrased queries.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agents share one context object. Each leaves a trace entry. The judge scores the plan on five criteria; if it says revise, its issues go back to the recommendation agent once. Every agent has a deterministic fallback, so the system works without an LLM.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Fault-risk models: the full model is used for what-if analysis, and the early-warning model is the honest forecast. The performance models beat the baseline but are modest, and we show R² in the UI. Root cause triangulates statistics, model drivers and history.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compliance: validate everything at the edge, redact PII before any LLM call, and sanitise outputs. The feedback loop makes the system better with use, and a test proves the ranking changes.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at three levels: unit, API and agent tests; retrieval metrics; and recommendation quality on golden queries with the heuristic judge and, when a key is set, DeepEval metrics. Note the embedding comparison that justified MiniLM.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live demo now and follow 07_Demo_Script.md.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trade-offs we chose deliberately, and what we would do next with real network data. Then open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Oval 1"/>
          <p:cNvSpPr/>
          <p:nvPr/>
        </p:nvSpPr>
        <p:spPr>
          <a:xfrm>
            <a:off x="685800" y="914400"/>
            <a:ext cx="1005840" cy="100584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000" b="1">
                <a:solidFill>
                  <a:srgbClr val="FFFFFF"/>
                </a:solidFill>
                <a:latin typeface="Calibri"/>
              </a:rPr>
              <a:t>📡</a:t>
            </a:r>
          </a:p>
        </p:txBody>
      </p:sp>
      <p:sp>
        <p:nvSpPr>
          <p:cNvPr id="3" name="TextBox 2"/>
          <p:cNvSpPr txBox="1"/>
          <p:nvPr/>
        </p:nvSpPr>
        <p:spPr>
          <a:xfrm>
            <a:off x="685800" y="2194560"/>
            <a:ext cx="10515600" cy="1645920"/>
          </a:xfrm>
          <a:prstGeom prst="rect">
            <a:avLst/>
          </a:prstGeom>
          <a:noFill/>
        </p:spPr>
        <p:txBody>
          <a:bodyPr wrap="square" lIns="36576" rIns="36576" tIns="18288" bIns="18288" anchor="t">
            <a:spAutoFit/>
          </a:bodyPr>
          <a:lstStyle/>
          <a:p>
            <a:pPr algn="l">
              <a:spcAft>
                <a:spcPts val="400"/>
              </a:spcAft>
            </a:pPr>
            <a:r>
              <a:rPr sz="4600" b="1" i="0">
                <a:solidFill>
                  <a:srgbClr val="FFFFFF"/>
                </a:solidFill>
                <a:latin typeface="Cambria"/>
              </a:rPr>
              <a:t>AI-Powered Telecom Network Operations Assistant</a:t>
            </a:r>
          </a:p>
        </p:txBody>
      </p:sp>
      <p:sp>
        <p:nvSpPr>
          <p:cNvPr id="4" name="TextBox 3"/>
          <p:cNvSpPr txBox="1"/>
          <p:nvPr/>
        </p:nvSpPr>
        <p:spPr>
          <a:xfrm>
            <a:off x="713232" y="3886200"/>
            <a:ext cx="10972800" cy="548640"/>
          </a:xfrm>
          <a:prstGeom prst="rect">
            <a:avLst/>
          </a:prstGeom>
          <a:noFill/>
        </p:spPr>
        <p:txBody>
          <a:bodyPr wrap="square" lIns="36576" rIns="36576" tIns="18288" bIns="18288" anchor="t">
            <a:spAutoFit/>
          </a:bodyPr>
          <a:lstStyle/>
          <a:p>
            <a:pPr algn="l">
              <a:spcAft>
                <a:spcPts val="400"/>
              </a:spcAft>
            </a:pPr>
            <a:r>
              <a:rPr sz="2000" b="0" i="0">
                <a:solidFill>
                  <a:srgbClr val="CFE8EC"/>
                </a:solidFill>
                <a:latin typeface="Calibri"/>
              </a:rPr>
              <a:t>Hybrid RAG · multi-agent troubleshooting · fault-risk prediction · LLM-as-judge</a:t>
            </a:r>
          </a:p>
        </p:txBody>
      </p:sp>
      <p:sp>
        <p:nvSpPr>
          <p:cNvPr id="5" name="TextBox 4"/>
          <p:cNvSpPr txBox="1"/>
          <p:nvPr/>
        </p:nvSpPr>
        <p:spPr>
          <a:xfrm>
            <a:off x="713232" y="5212080"/>
            <a:ext cx="10058400" cy="822960"/>
          </a:xfrm>
          <a:prstGeom prst="rect">
            <a:avLst/>
          </a:prstGeom>
          <a:noFill/>
        </p:spPr>
        <p:txBody>
          <a:bodyPr wrap="square" lIns="36576" rIns="36576" tIns="18288" bIns="18288" anchor="t">
            <a:spAutoFit/>
          </a:bodyPr>
          <a:lstStyle/>
          <a:p>
            <a:pPr algn="l">
              <a:spcAft>
                <a:spcPts val="400"/>
              </a:spcAft>
            </a:pPr>
            <a:r>
              <a:rPr sz="1800" b="1" i="0">
                <a:solidFill>
                  <a:srgbClr val="FFFFFF"/>
                </a:solidFill>
                <a:latin typeface="Calibri"/>
              </a:rPr>
              <a:t>Jerom Santhiyagu</a:t>
            </a:r>
          </a:p>
          <a:p>
            <a:pPr algn="l">
              <a:spcAft>
                <a:spcPts val="400"/>
              </a:spcAft>
            </a:pPr>
            <a:r>
              <a:rPr sz="1400" b="0" i="0">
                <a:solidFill>
                  <a:srgbClr val="CFE8EC"/>
                </a:solidFill>
                <a:latin typeface="Calibri"/>
              </a:rPr>
              <a:t>PU Bootcamp GenAI Capstone — Project 4 · Prodapt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55680" y="6400800"/>
            <a:ext cx="731520" cy="274320"/>
          </a:xfrm>
          <a:prstGeom prst="rect">
            <a:avLst/>
          </a:prstGeom>
          <a:noFill/>
        </p:spPr>
        <p:txBody>
          <a:bodyPr wrap="square" lIns="36576" rIns="36576" tIns="18288" bIns="18288" anchor="t">
            <a:spAutoFit/>
          </a:bodyPr>
          <a:lstStyle/>
          <a:p>
            <a:pPr algn="r">
              <a:spcAft>
                <a:spcPts val="400"/>
              </a:spcAft>
            </a:pPr>
            <a:r>
              <a:rPr sz="1000" b="0" i="0">
                <a:solidFill>
                  <a:srgbClr val="5B6B7F"/>
                </a:solidFill>
                <a:latin typeface="Calibri"/>
              </a:rPr>
              <a:t>2</a:t>
            </a:r>
          </a:p>
        </p:txBody>
      </p:sp>
      <p:sp>
        <p:nvSpPr>
          <p:cNvPr id="3" name="Title"/>
          <p:cNvSpPr txBox="1"/>
          <p:nvPr/>
        </p:nvSpPr>
        <p:spPr>
          <a:xfrm>
            <a:off x="548640" y="347472"/>
            <a:ext cx="11064240" cy="731520"/>
          </a:xfrm>
          <a:prstGeom prst="rect">
            <a:avLst/>
          </a:prstGeom>
          <a:noFill/>
        </p:spPr>
        <p:txBody>
          <a:bodyPr wrap="square" lIns="36576" rIns="36576" tIns="18288" bIns="18288" anchor="t">
            <a:spAutoFit/>
          </a:bodyPr>
          <a:lstStyle/>
          <a:p>
            <a:pPr algn="l">
              <a:spcAft>
                <a:spcPts val="400"/>
              </a:spcAft>
            </a:pPr>
            <a:r>
              <a:rPr sz="3400" b="1" i="0">
                <a:solidFill>
                  <a:srgbClr val="0B1F3A"/>
                </a:solidFill>
                <a:latin typeface="Cambria"/>
              </a:rPr>
              <a:t>NOC engineers lose time searching history</a:t>
            </a:r>
          </a:p>
        </p:txBody>
      </p:sp>
      <p:sp>
        <p:nvSpPr>
          <p:cNvPr id="4" name="TextBox 3"/>
          <p:cNvSpPr txBox="1"/>
          <p:nvPr/>
        </p:nvSpPr>
        <p:spPr>
          <a:xfrm>
            <a:off x="566928" y="1024128"/>
            <a:ext cx="11064240" cy="411480"/>
          </a:xfrm>
          <a:prstGeom prst="rect">
            <a:avLst/>
          </a:prstGeom>
          <a:noFill/>
        </p:spPr>
        <p:txBody>
          <a:bodyPr wrap="square" lIns="36576" rIns="36576" tIns="18288" bIns="18288" anchor="t">
            <a:spAutoFit/>
          </a:bodyPr>
          <a:lstStyle/>
          <a:p>
            <a:pPr algn="l">
              <a:spcAft>
                <a:spcPts val="400"/>
              </a:spcAft>
            </a:pPr>
            <a:r>
              <a:rPr sz="1600" b="0" i="1">
                <a:solidFill>
                  <a:srgbClr val="5B6B7F"/>
                </a:solidFill>
                <a:latin typeface="Calibri"/>
              </a:rPr>
              <a:t>Thousands of records, recurring problems, no fast way to reuse past fixes</a:t>
            </a:r>
          </a:p>
        </p:txBody>
      </p:sp>
      <p:sp>
        <p:nvSpPr>
          <p:cNvPr id="5" name="TextBox 4"/>
          <p:cNvSpPr txBox="1"/>
          <p:nvPr/>
        </p:nvSpPr>
        <p:spPr>
          <a:xfrm>
            <a:off x="548640" y="1737360"/>
            <a:ext cx="4846320" cy="4389120"/>
          </a:xfrm>
          <a:prstGeom prst="rect">
            <a:avLst/>
          </a:prstGeom>
          <a:noFill/>
        </p:spPr>
        <p:txBody>
          <a:bodyPr wrap="square">
            <a:spAutoFit/>
          </a:bodyPr>
          <a:lstStyle/>
          <a:p>
            <a:pPr>
              <a:spcAft>
                <a:spcPts val="900"/>
              </a:spcAft>
            </a:pPr>
            <a:r>
              <a:rPr sz="1600">
                <a:solidFill>
                  <a:srgbClr val="0E9AA7"/>
                </a:solidFill>
                <a:latin typeface="Calibri"/>
              </a:rPr>
              <a:t>▸  </a:t>
            </a:r>
            <a:r>
              <a:rPr sz="1600" b="1">
                <a:solidFill>
                  <a:srgbClr val="1B2635"/>
                </a:solidFill>
                <a:latin typeface="Calibri"/>
              </a:rPr>
              <a:t>Recurring issues: </a:t>
            </a:r>
            <a:r>
              <a:rPr sz="1600">
                <a:solidFill>
                  <a:srgbClr val="1B2635"/>
                </a:solidFill>
                <a:latin typeface="Calibri"/>
              </a:rPr>
              <a:t>congestion, poor signal, high latency, packet loss, call drops, handover failures, faults</a:t>
            </a:r>
          </a:p>
          <a:p>
            <a:pPr>
              <a:spcAft>
                <a:spcPts val="900"/>
              </a:spcAft>
            </a:pPr>
            <a:r>
              <a:rPr sz="1600">
                <a:solidFill>
                  <a:srgbClr val="0E9AA7"/>
                </a:solidFill>
                <a:latin typeface="Calibri"/>
              </a:rPr>
              <a:t>▸  </a:t>
            </a:r>
            <a:r>
              <a:rPr sz="1600" b="1">
                <a:solidFill>
                  <a:srgbClr val="1B2635"/>
                </a:solidFill>
                <a:latin typeface="Calibri"/>
              </a:rPr>
              <a:t>Rich history: </a:t>
            </a:r>
            <a:r>
              <a:rPr sz="1600">
                <a:solidFill>
                  <a:srgbClr val="1B2635"/>
                </a:solidFill>
                <a:latin typeface="Calibri"/>
              </a:rPr>
              <a:t>KPIs, alarms, config changes, users, security events, weather</a:t>
            </a:r>
          </a:p>
          <a:p>
            <a:pPr>
              <a:spcAft>
                <a:spcPts val="900"/>
              </a:spcAft>
            </a:pPr>
            <a:r>
              <a:rPr sz="1600">
                <a:solidFill>
                  <a:srgbClr val="0E9AA7"/>
                </a:solidFill>
                <a:latin typeface="Calibri"/>
              </a:rPr>
              <a:t>▸  </a:t>
            </a:r>
            <a:r>
              <a:rPr sz="1600" b="1">
                <a:solidFill>
                  <a:srgbClr val="1B2635"/>
                </a:solidFill>
                <a:latin typeface="Calibri"/>
              </a:rPr>
              <a:t>But: </a:t>
            </a:r>
            <a:r>
              <a:rPr sz="1600">
                <a:solidFill>
                  <a:srgbClr val="1B2635"/>
                </a:solidFill>
                <a:latin typeface="Calibri"/>
              </a:rPr>
              <a:t>finding similar incidents, causes and corrective actions by hand is slow and inconsistent</a:t>
            </a:r>
          </a:p>
          <a:p>
            <a:pPr>
              <a:spcAft>
                <a:spcPts val="900"/>
              </a:spcAft>
            </a:pPr>
            <a:r>
              <a:rPr sz="1600">
                <a:solidFill>
                  <a:srgbClr val="0E9AA7"/>
                </a:solidFill>
                <a:latin typeface="Calibri"/>
              </a:rPr>
              <a:t>▸  </a:t>
            </a:r>
            <a:r>
              <a:rPr sz="1600" b="1">
                <a:solidFill>
                  <a:srgbClr val="1B2635"/>
                </a:solidFill>
                <a:latin typeface="Calibri"/>
              </a:rPr>
              <a:t>Goal: </a:t>
            </a:r>
            <a:r>
              <a:rPr sz="1600">
                <a:solidFill>
                  <a:srgbClr val="1B2635"/>
                </a:solidFill>
                <a:latin typeface="Calibri"/>
              </a:rPr>
              <a:t>ask in plain English → similar cases, analysis, risk score and recommended actions</a:t>
            </a:r>
          </a:p>
        </p:txBody>
      </p:sp>
      <p:sp>
        <p:nvSpPr>
          <p:cNvPr id="6" name="Rounded Rectangle 5"/>
          <p:cNvSpPr/>
          <p:nvPr/>
        </p:nvSpPr>
        <p:spPr>
          <a:xfrm>
            <a:off x="5852160" y="1737360"/>
            <a:ext cx="5760720" cy="123444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035040" y="2057400"/>
            <a:ext cx="594360" cy="59436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0B1F3A"/>
                </a:solidFill>
                <a:latin typeface="Calibri"/>
              </a:rPr>
              <a:t>?</a:t>
            </a:r>
          </a:p>
        </p:txBody>
      </p:sp>
      <p:sp>
        <p:nvSpPr>
          <p:cNvPr id="8" name="TextBox 7"/>
          <p:cNvSpPr txBox="1"/>
          <p:nvPr/>
        </p:nvSpPr>
        <p:spPr>
          <a:xfrm>
            <a:off x="6812280" y="1847088"/>
            <a:ext cx="4663440" cy="1051560"/>
          </a:xfrm>
          <a:prstGeom prst="rect">
            <a:avLst/>
          </a:prstGeom>
          <a:noFill/>
        </p:spPr>
        <p:txBody>
          <a:bodyPr wrap="square" lIns="36576" rIns="36576" tIns="18288" bIns="18288" anchor="ctr">
            <a:spAutoFit/>
          </a:bodyPr>
          <a:lstStyle/>
          <a:p>
            <a:pPr algn="l">
              <a:spcAft>
                <a:spcPts val="400"/>
              </a:spcAft>
            </a:pPr>
            <a:r>
              <a:rPr sz="1500" b="0" i="1">
                <a:solidFill>
                  <a:srgbClr val="1B2635"/>
                </a:solidFill>
                <a:latin typeface="Calibri"/>
              </a:rPr>
              <a:t>“A cell is experiencing high latency, packet loss and reduced throughput. What similar conditions occurred before?”</a:t>
            </a:r>
          </a:p>
        </p:txBody>
      </p:sp>
      <p:sp>
        <p:nvSpPr>
          <p:cNvPr id="9" name="Rounded Rectangle 8"/>
          <p:cNvSpPr/>
          <p:nvPr/>
        </p:nvSpPr>
        <p:spPr>
          <a:xfrm>
            <a:off x="5852160" y="3200400"/>
            <a:ext cx="5760720" cy="123444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035040" y="3520440"/>
            <a:ext cx="594360" cy="59436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0B1F3A"/>
                </a:solidFill>
                <a:latin typeface="Calibri"/>
              </a:rPr>
              <a:t>?</a:t>
            </a:r>
          </a:p>
        </p:txBody>
      </p:sp>
      <p:sp>
        <p:nvSpPr>
          <p:cNvPr id="11" name="TextBox 10"/>
          <p:cNvSpPr txBox="1"/>
          <p:nvPr/>
        </p:nvSpPr>
        <p:spPr>
          <a:xfrm>
            <a:off x="6812280" y="3310128"/>
            <a:ext cx="4663440" cy="1051560"/>
          </a:xfrm>
          <a:prstGeom prst="rect">
            <a:avLst/>
          </a:prstGeom>
          <a:noFill/>
        </p:spPr>
        <p:txBody>
          <a:bodyPr wrap="square" lIns="36576" rIns="36576" tIns="18288" bIns="18288" anchor="ctr">
            <a:spAutoFit/>
          </a:bodyPr>
          <a:lstStyle/>
          <a:p>
            <a:pPr algn="l">
              <a:spcAft>
                <a:spcPts val="400"/>
              </a:spcAft>
            </a:pPr>
            <a:r>
              <a:rPr sz="1500" b="0" i="1">
                <a:solidFill>
                  <a:srgbClr val="1B2635"/>
                </a:solidFill>
                <a:latin typeface="Calibri"/>
              </a:rPr>
              <a:t>“Multiple cells show poor service quality and increasing alarm counts. What factors could contribute?”</a:t>
            </a:r>
          </a:p>
        </p:txBody>
      </p:sp>
      <p:sp>
        <p:nvSpPr>
          <p:cNvPr id="12" name="Rounded Rectangle 11"/>
          <p:cNvSpPr/>
          <p:nvPr/>
        </p:nvSpPr>
        <p:spPr>
          <a:xfrm>
            <a:off x="5852160" y="4663440"/>
            <a:ext cx="5760720" cy="123444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35040" y="4983479"/>
            <a:ext cx="594360" cy="59436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0B1F3A"/>
                </a:solidFill>
                <a:latin typeface="Calibri"/>
              </a:rPr>
              <a:t>?</a:t>
            </a:r>
          </a:p>
        </p:txBody>
      </p:sp>
      <p:sp>
        <p:nvSpPr>
          <p:cNvPr id="14" name="TextBox 13"/>
          <p:cNvSpPr txBox="1"/>
          <p:nvPr/>
        </p:nvSpPr>
        <p:spPr>
          <a:xfrm>
            <a:off x="6812280" y="4773168"/>
            <a:ext cx="4663440" cy="1051560"/>
          </a:xfrm>
          <a:prstGeom prst="rect">
            <a:avLst/>
          </a:prstGeom>
          <a:noFill/>
        </p:spPr>
        <p:txBody>
          <a:bodyPr wrap="square" lIns="36576" rIns="36576" tIns="18288" bIns="18288" anchor="ctr">
            <a:spAutoFit/>
          </a:bodyPr>
          <a:lstStyle/>
          <a:p>
            <a:pPr algn="l">
              <a:spcAft>
                <a:spcPts val="400"/>
              </a:spcAft>
            </a:pPr>
            <a:r>
              <a:rPr sz="1500" b="0" i="1">
                <a:solidFill>
                  <a:srgbClr val="1B2635"/>
                </a:solidFill>
                <a:latin typeface="Calibri"/>
              </a:rPr>
              <a:t>“A region has increasing fault occurrence and declining handover success. What corrective actions?”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55680" y="6400800"/>
            <a:ext cx="731520" cy="274320"/>
          </a:xfrm>
          <a:prstGeom prst="rect">
            <a:avLst/>
          </a:prstGeom>
          <a:noFill/>
        </p:spPr>
        <p:txBody>
          <a:bodyPr wrap="square" lIns="36576" rIns="36576" tIns="18288" bIns="18288" anchor="t">
            <a:spAutoFit/>
          </a:bodyPr>
          <a:lstStyle/>
          <a:p>
            <a:pPr algn="r">
              <a:spcAft>
                <a:spcPts val="400"/>
              </a:spcAft>
            </a:pPr>
            <a:r>
              <a:rPr sz="1000" b="0" i="0">
                <a:solidFill>
                  <a:srgbClr val="5B6B7F"/>
                </a:solidFill>
                <a:latin typeface="Calibri"/>
              </a:rPr>
              <a:t>3</a:t>
            </a:r>
          </a:p>
        </p:txBody>
      </p:sp>
      <p:sp>
        <p:nvSpPr>
          <p:cNvPr id="3" name="Title"/>
          <p:cNvSpPr txBox="1"/>
          <p:nvPr/>
        </p:nvSpPr>
        <p:spPr>
          <a:xfrm>
            <a:off x="548640" y="347472"/>
            <a:ext cx="11064240" cy="731520"/>
          </a:xfrm>
          <a:prstGeom prst="rect">
            <a:avLst/>
          </a:prstGeom>
          <a:noFill/>
        </p:spPr>
        <p:txBody>
          <a:bodyPr wrap="square" lIns="36576" rIns="36576" tIns="18288" bIns="18288" anchor="t">
            <a:spAutoFit/>
          </a:bodyPr>
          <a:lstStyle/>
          <a:p>
            <a:pPr algn="l">
              <a:spcAft>
                <a:spcPts val="400"/>
              </a:spcAft>
            </a:pPr>
            <a:r>
              <a:rPr sz="3400" b="1" i="0">
                <a:solidFill>
                  <a:srgbClr val="0B1F3A"/>
                </a:solidFill>
                <a:latin typeface="Cambria"/>
              </a:rPr>
              <a:t>The solution at a glance</a:t>
            </a:r>
          </a:p>
        </p:txBody>
      </p:sp>
      <p:sp>
        <p:nvSpPr>
          <p:cNvPr id="4" name="TextBox 3"/>
          <p:cNvSpPr txBox="1"/>
          <p:nvPr/>
        </p:nvSpPr>
        <p:spPr>
          <a:xfrm>
            <a:off x="566928" y="1024128"/>
            <a:ext cx="11064240" cy="411480"/>
          </a:xfrm>
          <a:prstGeom prst="rect">
            <a:avLst/>
          </a:prstGeom>
          <a:noFill/>
        </p:spPr>
        <p:txBody>
          <a:bodyPr wrap="square" lIns="36576" rIns="36576" tIns="18288" bIns="18288" anchor="t">
            <a:spAutoFit/>
          </a:bodyPr>
          <a:lstStyle/>
          <a:p>
            <a:pPr algn="l">
              <a:spcAft>
                <a:spcPts val="400"/>
              </a:spcAft>
            </a:pPr>
            <a:r>
              <a:rPr sz="1600" b="0" i="1">
                <a:solidFill>
                  <a:srgbClr val="5B6B7F"/>
                </a:solidFill>
                <a:latin typeface="Calibri"/>
              </a:rPr>
              <a:t>One microservice, one question, one grounded and validated answer</a:t>
            </a:r>
          </a:p>
        </p:txBody>
      </p:sp>
      <p:sp>
        <p:nvSpPr>
          <p:cNvPr id="5" name="Rounded Rectangle 4"/>
          <p:cNvSpPr/>
          <p:nvPr/>
        </p:nvSpPr>
        <p:spPr>
          <a:xfrm>
            <a:off x="548640" y="1783080"/>
            <a:ext cx="2084831" cy="16002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1810511" cy="822960"/>
          </a:xfrm>
          <a:prstGeom prst="rect">
            <a:avLst/>
          </a:prstGeom>
          <a:noFill/>
        </p:spPr>
        <p:txBody>
          <a:bodyPr wrap="square" lIns="36576" rIns="36576" tIns="18288" bIns="18288" anchor="t">
            <a:spAutoFit/>
          </a:bodyPr>
          <a:lstStyle/>
          <a:p>
            <a:pPr algn="ctr">
              <a:spcAft>
                <a:spcPts val="400"/>
              </a:spcAft>
            </a:pPr>
            <a:r>
              <a:rPr sz="4000" b="1" i="0">
                <a:solidFill>
                  <a:srgbClr val="0E9AA7"/>
                </a:solidFill>
                <a:latin typeface="Cambria"/>
              </a:rPr>
              <a:t>100K</a:t>
            </a:r>
          </a:p>
        </p:txBody>
      </p:sp>
      <p:sp>
        <p:nvSpPr>
          <p:cNvPr id="7" name="TextBox 6"/>
          <p:cNvSpPr txBox="1"/>
          <p:nvPr/>
        </p:nvSpPr>
        <p:spPr>
          <a:xfrm>
            <a:off x="685800" y="2743200"/>
            <a:ext cx="1810511" cy="548640"/>
          </a:xfrm>
          <a:prstGeom prst="rect">
            <a:avLst/>
          </a:prstGeom>
          <a:noFill/>
        </p:spPr>
        <p:txBody>
          <a:bodyPr wrap="square" lIns="36576" rIns="36576" tIns="18288" bIns="18288" anchor="t">
            <a:spAutoFit/>
          </a:bodyPr>
          <a:lstStyle/>
          <a:p>
            <a:pPr algn="ctr">
              <a:spcAft>
                <a:spcPts val="400"/>
              </a:spcAft>
            </a:pPr>
            <a:r>
              <a:rPr sz="1300" b="0" i="0">
                <a:solidFill>
                  <a:srgbClr val="1B2635"/>
                </a:solidFill>
                <a:latin typeface="Calibri"/>
              </a:rPr>
              <a:t>incidents indexed
FAISS + BM25</a:t>
            </a:r>
          </a:p>
        </p:txBody>
      </p:sp>
      <p:sp>
        <p:nvSpPr>
          <p:cNvPr id="8" name="Rounded Rectangle 7"/>
          <p:cNvSpPr/>
          <p:nvPr/>
        </p:nvSpPr>
        <p:spPr>
          <a:xfrm>
            <a:off x="2816352" y="1783080"/>
            <a:ext cx="2084831" cy="16002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53512" y="1920240"/>
            <a:ext cx="1810511" cy="822960"/>
          </a:xfrm>
          <a:prstGeom prst="rect">
            <a:avLst/>
          </a:prstGeom>
          <a:noFill/>
        </p:spPr>
        <p:txBody>
          <a:bodyPr wrap="square" lIns="36576" rIns="36576" tIns="18288" bIns="18288" anchor="t">
            <a:spAutoFit/>
          </a:bodyPr>
          <a:lstStyle/>
          <a:p>
            <a:pPr algn="ctr">
              <a:spcAft>
                <a:spcPts val="400"/>
              </a:spcAft>
            </a:pPr>
            <a:r>
              <a:rPr sz="4000" b="1" i="0">
                <a:solidFill>
                  <a:srgbClr val="0E9AA7"/>
                </a:solidFill>
                <a:latin typeface="Cambria"/>
              </a:rPr>
              <a:t>7</a:t>
            </a:r>
          </a:p>
        </p:txBody>
      </p:sp>
      <p:sp>
        <p:nvSpPr>
          <p:cNvPr id="10" name="TextBox 9"/>
          <p:cNvSpPr txBox="1"/>
          <p:nvPr/>
        </p:nvSpPr>
        <p:spPr>
          <a:xfrm>
            <a:off x="2953512" y="2743200"/>
            <a:ext cx="1810511" cy="548640"/>
          </a:xfrm>
          <a:prstGeom prst="rect">
            <a:avLst/>
          </a:prstGeom>
          <a:noFill/>
        </p:spPr>
        <p:txBody>
          <a:bodyPr wrap="square" lIns="36576" rIns="36576" tIns="18288" bIns="18288" anchor="t">
            <a:spAutoFit/>
          </a:bodyPr>
          <a:lstStyle/>
          <a:p>
            <a:pPr algn="ctr">
              <a:spcAft>
                <a:spcPts val="400"/>
              </a:spcAft>
            </a:pPr>
            <a:r>
              <a:rPr sz="1300" b="0" i="0">
                <a:solidFill>
                  <a:srgbClr val="1B2635"/>
                </a:solidFill>
                <a:latin typeface="Calibri"/>
              </a:rPr>
              <a:t>agents with a
judge loop</a:t>
            </a:r>
          </a:p>
        </p:txBody>
      </p:sp>
      <p:sp>
        <p:nvSpPr>
          <p:cNvPr id="11" name="Rounded Rectangle 10"/>
          <p:cNvSpPr/>
          <p:nvPr/>
        </p:nvSpPr>
        <p:spPr>
          <a:xfrm>
            <a:off x="5084064" y="1783080"/>
            <a:ext cx="2084831" cy="16002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21224" y="1920240"/>
            <a:ext cx="1810511" cy="822960"/>
          </a:xfrm>
          <a:prstGeom prst="rect">
            <a:avLst/>
          </a:prstGeom>
          <a:noFill/>
        </p:spPr>
        <p:txBody>
          <a:bodyPr wrap="square" lIns="36576" rIns="36576" tIns="18288" bIns="18288" anchor="t">
            <a:spAutoFit/>
          </a:bodyPr>
          <a:lstStyle/>
          <a:p>
            <a:pPr algn="ctr">
              <a:spcAft>
                <a:spcPts val="400"/>
              </a:spcAft>
            </a:pPr>
            <a:r>
              <a:rPr sz="4000" b="1" i="0">
                <a:solidFill>
                  <a:srgbClr val="0E9AA7"/>
                </a:solidFill>
                <a:latin typeface="Cambria"/>
              </a:rPr>
              <a:t>13</a:t>
            </a:r>
          </a:p>
        </p:txBody>
      </p:sp>
      <p:sp>
        <p:nvSpPr>
          <p:cNvPr id="13" name="TextBox 12"/>
          <p:cNvSpPr txBox="1"/>
          <p:nvPr/>
        </p:nvSpPr>
        <p:spPr>
          <a:xfrm>
            <a:off x="5221224" y="2743200"/>
            <a:ext cx="1810511" cy="548640"/>
          </a:xfrm>
          <a:prstGeom prst="rect">
            <a:avLst/>
          </a:prstGeom>
          <a:noFill/>
        </p:spPr>
        <p:txBody>
          <a:bodyPr wrap="square" lIns="36576" rIns="36576" tIns="18288" bIns="18288" anchor="t">
            <a:spAutoFit/>
          </a:bodyPr>
          <a:lstStyle/>
          <a:p>
            <a:pPr algn="ctr">
              <a:spcAft>
                <a:spcPts val="400"/>
              </a:spcAft>
            </a:pPr>
            <a:r>
              <a:rPr sz="1300" b="0" i="0">
                <a:solidFill>
                  <a:srgbClr val="1B2635"/>
                </a:solidFill>
                <a:latin typeface="Calibri"/>
              </a:rPr>
              <a:t>REST endpoints
FastAPI + Swagger</a:t>
            </a:r>
          </a:p>
        </p:txBody>
      </p:sp>
      <p:sp>
        <p:nvSpPr>
          <p:cNvPr id="14" name="Rounded Rectangle 13"/>
          <p:cNvSpPr/>
          <p:nvPr/>
        </p:nvSpPr>
        <p:spPr>
          <a:xfrm>
            <a:off x="7351775" y="1783080"/>
            <a:ext cx="2084831" cy="16002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88936" y="1920240"/>
            <a:ext cx="1810511" cy="822960"/>
          </a:xfrm>
          <a:prstGeom prst="rect">
            <a:avLst/>
          </a:prstGeom>
          <a:noFill/>
        </p:spPr>
        <p:txBody>
          <a:bodyPr wrap="square" lIns="36576" rIns="36576" tIns="18288" bIns="18288" anchor="t">
            <a:spAutoFit/>
          </a:bodyPr>
          <a:lstStyle/>
          <a:p>
            <a:pPr algn="ctr">
              <a:spcAft>
                <a:spcPts val="400"/>
              </a:spcAft>
            </a:pPr>
            <a:r>
              <a:rPr sz="4000" b="1" i="0">
                <a:solidFill>
                  <a:srgbClr val="0E9AA7"/>
                </a:solidFill>
                <a:latin typeface="Cambria"/>
              </a:rPr>
              <a:t>100%</a:t>
            </a:r>
          </a:p>
        </p:txBody>
      </p:sp>
      <p:sp>
        <p:nvSpPr>
          <p:cNvPr id="16" name="TextBox 15"/>
          <p:cNvSpPr txBox="1"/>
          <p:nvPr/>
        </p:nvSpPr>
        <p:spPr>
          <a:xfrm>
            <a:off x="7488936" y="2743200"/>
            <a:ext cx="1810511" cy="548640"/>
          </a:xfrm>
          <a:prstGeom prst="rect">
            <a:avLst/>
          </a:prstGeom>
          <a:noFill/>
        </p:spPr>
        <p:txBody>
          <a:bodyPr wrap="square" lIns="36576" rIns="36576" tIns="18288" bIns="18288" anchor="t">
            <a:spAutoFit/>
          </a:bodyPr>
          <a:lstStyle/>
          <a:p>
            <a:pPr algn="ctr">
              <a:spcAft>
                <a:spcPts val="400"/>
              </a:spcAft>
            </a:pPr>
            <a:r>
              <a:rPr sz="1300" b="0" i="0">
                <a:solidFill>
                  <a:srgbClr val="1B2635"/>
                </a:solidFill>
                <a:latin typeface="Calibri"/>
              </a:rPr>
              <a:t>category accuracy
golden queries</a:t>
            </a:r>
          </a:p>
        </p:txBody>
      </p:sp>
      <p:sp>
        <p:nvSpPr>
          <p:cNvPr id="17" name="Rounded Rectangle 16"/>
          <p:cNvSpPr/>
          <p:nvPr/>
        </p:nvSpPr>
        <p:spPr>
          <a:xfrm>
            <a:off x="9619488" y="1783080"/>
            <a:ext cx="2084831" cy="16002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56648" y="1920240"/>
            <a:ext cx="1810511" cy="822960"/>
          </a:xfrm>
          <a:prstGeom prst="rect">
            <a:avLst/>
          </a:prstGeom>
          <a:noFill/>
        </p:spPr>
        <p:txBody>
          <a:bodyPr wrap="square" lIns="36576" rIns="36576" tIns="18288" bIns="18288" anchor="t">
            <a:spAutoFit/>
          </a:bodyPr>
          <a:lstStyle/>
          <a:p>
            <a:pPr algn="ctr">
              <a:spcAft>
                <a:spcPts val="400"/>
              </a:spcAft>
            </a:pPr>
            <a:r>
              <a:rPr sz="4000" b="1" i="0">
                <a:solidFill>
                  <a:srgbClr val="0E9AA7"/>
                </a:solidFill>
                <a:latin typeface="Cambria"/>
              </a:rPr>
              <a:t>0.5s</a:t>
            </a:r>
          </a:p>
        </p:txBody>
      </p:sp>
      <p:sp>
        <p:nvSpPr>
          <p:cNvPr id="19" name="TextBox 18"/>
          <p:cNvSpPr txBox="1"/>
          <p:nvPr/>
        </p:nvSpPr>
        <p:spPr>
          <a:xfrm>
            <a:off x="9756648" y="2743200"/>
            <a:ext cx="1810511" cy="548640"/>
          </a:xfrm>
          <a:prstGeom prst="rect">
            <a:avLst/>
          </a:prstGeom>
          <a:noFill/>
        </p:spPr>
        <p:txBody>
          <a:bodyPr wrap="square" lIns="36576" rIns="36576" tIns="18288" bIns="18288" anchor="t">
            <a:spAutoFit/>
          </a:bodyPr>
          <a:lstStyle/>
          <a:p>
            <a:pPr algn="ctr">
              <a:spcAft>
                <a:spcPts val="400"/>
              </a:spcAft>
            </a:pPr>
            <a:r>
              <a:rPr sz="1300" b="0" i="0">
                <a:solidFill>
                  <a:srgbClr val="1B2635"/>
                </a:solidFill>
                <a:latin typeface="Calibri"/>
              </a:rPr>
              <a:t>mean analysis time
offline mode</a:t>
            </a:r>
          </a:p>
        </p:txBody>
      </p:sp>
      <p:sp>
        <p:nvSpPr>
          <p:cNvPr id="20" name="TextBox 19"/>
          <p:cNvSpPr txBox="1"/>
          <p:nvPr/>
        </p:nvSpPr>
        <p:spPr>
          <a:xfrm>
            <a:off x="548640" y="3749039"/>
            <a:ext cx="11064240" cy="365760"/>
          </a:xfrm>
          <a:prstGeom prst="rect">
            <a:avLst/>
          </a:prstGeom>
          <a:noFill/>
        </p:spPr>
        <p:txBody>
          <a:bodyPr wrap="square" lIns="36576" rIns="36576" tIns="18288" bIns="18288" anchor="t">
            <a:spAutoFit/>
          </a:bodyPr>
          <a:lstStyle/>
          <a:p>
            <a:pPr algn="l">
              <a:spcAft>
                <a:spcPts val="400"/>
              </a:spcAft>
            </a:pPr>
            <a:r>
              <a:rPr sz="2000" b="1" i="0">
                <a:solidFill>
                  <a:srgbClr val="0B1F3A"/>
                </a:solidFill>
                <a:latin typeface="Cambria"/>
              </a:rPr>
              <a:t>What an engineer gets back</a:t>
            </a:r>
          </a:p>
        </p:txBody>
      </p:sp>
      <p:sp>
        <p:nvSpPr>
          <p:cNvPr id="21" name="Oval 20"/>
          <p:cNvSpPr/>
          <p:nvPr/>
        </p:nvSpPr>
        <p:spPr>
          <a:xfrm>
            <a:off x="1115568" y="4297680"/>
            <a:ext cx="640080" cy="64008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22" name="TextBox 21"/>
          <p:cNvSpPr txBox="1"/>
          <p:nvPr/>
        </p:nvSpPr>
        <p:spPr>
          <a:xfrm>
            <a:off x="548640" y="5029200"/>
            <a:ext cx="1783080" cy="365760"/>
          </a:xfrm>
          <a:prstGeom prst="rect">
            <a:avLst/>
          </a:prstGeom>
          <a:noFill/>
        </p:spPr>
        <p:txBody>
          <a:bodyPr wrap="square" lIns="36576" rIns="36576" tIns="18288" bIns="18288" anchor="t">
            <a:spAutoFit/>
          </a:bodyPr>
          <a:lstStyle/>
          <a:p>
            <a:pPr algn="ctr">
              <a:spcAft>
                <a:spcPts val="400"/>
              </a:spcAft>
            </a:pPr>
            <a:r>
              <a:rPr sz="1500" b="1" i="0">
                <a:solidFill>
                  <a:srgbClr val="1B2635"/>
                </a:solidFill>
                <a:latin typeface="Calibri"/>
              </a:rPr>
              <a:t>Similar cases</a:t>
            </a:r>
          </a:p>
        </p:txBody>
      </p:sp>
      <p:sp>
        <p:nvSpPr>
          <p:cNvPr id="23" name="TextBox 22"/>
          <p:cNvSpPr txBox="1"/>
          <p:nvPr/>
        </p:nvSpPr>
        <p:spPr>
          <a:xfrm>
            <a:off x="548640" y="5394960"/>
            <a:ext cx="1783080" cy="457200"/>
          </a:xfrm>
          <a:prstGeom prst="rect">
            <a:avLst/>
          </a:prstGeom>
          <a:noFill/>
        </p:spPr>
        <p:txBody>
          <a:bodyPr wrap="square" lIns="36576" rIns="36576" tIns="18288" bIns="18288" anchor="t">
            <a:spAutoFit/>
          </a:bodyPr>
          <a:lstStyle/>
          <a:p>
            <a:pPr algn="ctr">
              <a:spcAft>
                <a:spcPts val="400"/>
              </a:spcAft>
            </a:pPr>
            <a:r>
              <a:rPr sz="1200" b="0" i="0">
                <a:solidFill>
                  <a:srgbClr val="5B6B7F"/>
                </a:solidFill>
                <a:latin typeface="Calibri"/>
              </a:rPr>
              <a:t>hybrid search + filters</a:t>
            </a:r>
          </a:p>
        </p:txBody>
      </p:sp>
      <p:sp>
        <p:nvSpPr>
          <p:cNvPr id="24" name="Oval 23"/>
          <p:cNvSpPr/>
          <p:nvPr/>
        </p:nvSpPr>
        <p:spPr>
          <a:xfrm>
            <a:off x="3008376" y="4297680"/>
            <a:ext cx="640080" cy="64008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25" name="TextBox 24"/>
          <p:cNvSpPr txBox="1"/>
          <p:nvPr/>
        </p:nvSpPr>
        <p:spPr>
          <a:xfrm>
            <a:off x="2441448" y="5029200"/>
            <a:ext cx="1783080" cy="365760"/>
          </a:xfrm>
          <a:prstGeom prst="rect">
            <a:avLst/>
          </a:prstGeom>
          <a:noFill/>
        </p:spPr>
        <p:txBody>
          <a:bodyPr wrap="square" lIns="36576" rIns="36576" tIns="18288" bIns="18288" anchor="t">
            <a:spAutoFit/>
          </a:bodyPr>
          <a:lstStyle/>
          <a:p>
            <a:pPr algn="ctr">
              <a:spcAft>
                <a:spcPts val="400"/>
              </a:spcAft>
            </a:pPr>
            <a:r>
              <a:rPr sz="1500" b="1" i="0">
                <a:solidFill>
                  <a:srgbClr val="1B2635"/>
                </a:solidFill>
                <a:latin typeface="Calibri"/>
              </a:rPr>
              <a:t>Priority P1–P4</a:t>
            </a:r>
          </a:p>
        </p:txBody>
      </p:sp>
      <p:sp>
        <p:nvSpPr>
          <p:cNvPr id="26" name="TextBox 25"/>
          <p:cNvSpPr txBox="1"/>
          <p:nvPr/>
        </p:nvSpPr>
        <p:spPr>
          <a:xfrm>
            <a:off x="2441448" y="5394960"/>
            <a:ext cx="1783080" cy="457200"/>
          </a:xfrm>
          <a:prstGeom prst="rect">
            <a:avLst/>
          </a:prstGeom>
          <a:noFill/>
        </p:spPr>
        <p:txBody>
          <a:bodyPr wrap="square" lIns="36576" rIns="36576" tIns="18288" bIns="18288" anchor="t">
            <a:spAutoFit/>
          </a:bodyPr>
          <a:lstStyle/>
          <a:p>
            <a:pPr algn="ctr">
              <a:spcAft>
                <a:spcPts val="400"/>
              </a:spcAft>
            </a:pPr>
            <a:r>
              <a:rPr sz="1200" b="0" i="0">
                <a:solidFill>
                  <a:srgbClr val="5B6B7F"/>
                </a:solidFill>
                <a:latin typeface="Calibri"/>
              </a:rPr>
              <a:t>category + confidence</a:t>
            </a:r>
          </a:p>
        </p:txBody>
      </p:sp>
      <p:sp>
        <p:nvSpPr>
          <p:cNvPr id="27" name="Oval 26"/>
          <p:cNvSpPr/>
          <p:nvPr/>
        </p:nvSpPr>
        <p:spPr>
          <a:xfrm>
            <a:off x="4901183" y="4297680"/>
            <a:ext cx="640080" cy="64008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28" name="TextBox 27"/>
          <p:cNvSpPr txBox="1"/>
          <p:nvPr/>
        </p:nvSpPr>
        <p:spPr>
          <a:xfrm>
            <a:off x="4334255" y="5029200"/>
            <a:ext cx="1783080" cy="365760"/>
          </a:xfrm>
          <a:prstGeom prst="rect">
            <a:avLst/>
          </a:prstGeom>
          <a:noFill/>
        </p:spPr>
        <p:txBody>
          <a:bodyPr wrap="square" lIns="36576" rIns="36576" tIns="18288" bIns="18288" anchor="t">
            <a:spAutoFit/>
          </a:bodyPr>
          <a:lstStyle/>
          <a:p>
            <a:pPr algn="ctr">
              <a:spcAft>
                <a:spcPts val="400"/>
              </a:spcAft>
            </a:pPr>
            <a:r>
              <a:rPr sz="1500" b="1" i="0">
                <a:solidFill>
                  <a:srgbClr val="1B2635"/>
                </a:solidFill>
                <a:latin typeface="Calibri"/>
              </a:rPr>
              <a:t>Forecasts</a:t>
            </a:r>
          </a:p>
        </p:txBody>
      </p:sp>
      <p:sp>
        <p:nvSpPr>
          <p:cNvPr id="29" name="TextBox 28"/>
          <p:cNvSpPr txBox="1"/>
          <p:nvPr/>
        </p:nvSpPr>
        <p:spPr>
          <a:xfrm>
            <a:off x="4334255" y="5394960"/>
            <a:ext cx="1783080" cy="457200"/>
          </a:xfrm>
          <a:prstGeom prst="rect">
            <a:avLst/>
          </a:prstGeom>
          <a:noFill/>
        </p:spPr>
        <p:txBody>
          <a:bodyPr wrap="square" lIns="36576" rIns="36576" tIns="18288" bIns="18288" anchor="t">
            <a:spAutoFit/>
          </a:bodyPr>
          <a:lstStyle/>
          <a:p>
            <a:pPr algn="ctr">
              <a:spcAft>
                <a:spcPts val="400"/>
              </a:spcAft>
            </a:pPr>
            <a:r>
              <a:rPr sz="1200" b="0" i="0">
                <a:solidFill>
                  <a:srgbClr val="5B6B7F"/>
                </a:solidFill>
                <a:latin typeface="Calibri"/>
              </a:rPr>
              <a:t>fault risk + KPIs</a:t>
            </a:r>
          </a:p>
        </p:txBody>
      </p:sp>
      <p:sp>
        <p:nvSpPr>
          <p:cNvPr id="30" name="Oval 29"/>
          <p:cNvSpPr/>
          <p:nvPr/>
        </p:nvSpPr>
        <p:spPr>
          <a:xfrm>
            <a:off x="6793991" y="4297680"/>
            <a:ext cx="640080" cy="64008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31" name="TextBox 30"/>
          <p:cNvSpPr txBox="1"/>
          <p:nvPr/>
        </p:nvSpPr>
        <p:spPr>
          <a:xfrm>
            <a:off x="6227063" y="5029200"/>
            <a:ext cx="1783080" cy="365760"/>
          </a:xfrm>
          <a:prstGeom prst="rect">
            <a:avLst/>
          </a:prstGeom>
          <a:noFill/>
        </p:spPr>
        <p:txBody>
          <a:bodyPr wrap="square" lIns="36576" rIns="36576" tIns="18288" bIns="18288" anchor="t">
            <a:spAutoFit/>
          </a:bodyPr>
          <a:lstStyle/>
          <a:p>
            <a:pPr algn="ctr">
              <a:spcAft>
                <a:spcPts val="400"/>
              </a:spcAft>
            </a:pPr>
            <a:r>
              <a:rPr sz="1500" b="1" i="0">
                <a:solidFill>
                  <a:srgbClr val="1B2635"/>
                </a:solidFill>
                <a:latin typeface="Calibri"/>
              </a:rPr>
              <a:t>Root cause</a:t>
            </a:r>
          </a:p>
        </p:txBody>
      </p:sp>
      <p:sp>
        <p:nvSpPr>
          <p:cNvPr id="32" name="TextBox 31"/>
          <p:cNvSpPr txBox="1"/>
          <p:nvPr/>
        </p:nvSpPr>
        <p:spPr>
          <a:xfrm>
            <a:off x="6227063" y="5394960"/>
            <a:ext cx="1783080" cy="457200"/>
          </a:xfrm>
          <a:prstGeom prst="rect">
            <a:avLst/>
          </a:prstGeom>
          <a:noFill/>
        </p:spPr>
        <p:txBody>
          <a:bodyPr wrap="square" lIns="36576" rIns="36576" tIns="18288" bIns="18288" anchor="t">
            <a:spAutoFit/>
          </a:bodyPr>
          <a:lstStyle/>
          <a:p>
            <a:pPr algn="ctr">
              <a:spcAft>
                <a:spcPts val="400"/>
              </a:spcAft>
            </a:pPr>
            <a:r>
              <a:rPr sz="1200" b="0" i="0">
                <a:solidFill>
                  <a:srgbClr val="5B6B7F"/>
                </a:solidFill>
                <a:latin typeface="Calibri"/>
              </a:rPr>
              <a:t>impact, SLA, MTTR</a:t>
            </a:r>
          </a:p>
        </p:txBody>
      </p:sp>
      <p:sp>
        <p:nvSpPr>
          <p:cNvPr id="33" name="Oval 32"/>
          <p:cNvSpPr/>
          <p:nvPr/>
        </p:nvSpPr>
        <p:spPr>
          <a:xfrm>
            <a:off x="8686799" y="4297680"/>
            <a:ext cx="640080" cy="64008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34" name="TextBox 33"/>
          <p:cNvSpPr txBox="1"/>
          <p:nvPr/>
        </p:nvSpPr>
        <p:spPr>
          <a:xfrm>
            <a:off x="8119871" y="5029200"/>
            <a:ext cx="1783080" cy="365760"/>
          </a:xfrm>
          <a:prstGeom prst="rect">
            <a:avLst/>
          </a:prstGeom>
          <a:noFill/>
        </p:spPr>
        <p:txBody>
          <a:bodyPr wrap="square" lIns="36576" rIns="36576" tIns="18288" bIns="18288" anchor="t">
            <a:spAutoFit/>
          </a:bodyPr>
          <a:lstStyle/>
          <a:p>
            <a:pPr algn="ctr">
              <a:spcAft>
                <a:spcPts val="400"/>
              </a:spcAft>
            </a:pPr>
            <a:r>
              <a:rPr sz="1500" b="1" i="0">
                <a:solidFill>
                  <a:srgbClr val="1B2635"/>
                </a:solidFill>
                <a:latin typeface="Calibri"/>
              </a:rPr>
              <a:t>Action plan</a:t>
            </a:r>
          </a:p>
        </p:txBody>
      </p:sp>
      <p:sp>
        <p:nvSpPr>
          <p:cNvPr id="35" name="TextBox 34"/>
          <p:cNvSpPr txBox="1"/>
          <p:nvPr/>
        </p:nvSpPr>
        <p:spPr>
          <a:xfrm>
            <a:off x="8119871" y="5394960"/>
            <a:ext cx="1783080" cy="457200"/>
          </a:xfrm>
          <a:prstGeom prst="rect">
            <a:avLst/>
          </a:prstGeom>
          <a:noFill/>
        </p:spPr>
        <p:txBody>
          <a:bodyPr wrap="square" lIns="36576" rIns="36576" tIns="18288" bIns="18288" anchor="t">
            <a:spAutoFit/>
          </a:bodyPr>
          <a:lstStyle/>
          <a:p>
            <a:pPr algn="ctr">
              <a:spcAft>
                <a:spcPts val="400"/>
              </a:spcAft>
            </a:pPr>
            <a:r>
              <a:rPr sz="1200" b="0" i="0">
                <a:solidFill>
                  <a:srgbClr val="5B6B7F"/>
                </a:solidFill>
                <a:latin typeface="Calibri"/>
              </a:rPr>
              <a:t>cited, approval-flagged</a:t>
            </a:r>
          </a:p>
        </p:txBody>
      </p:sp>
      <p:sp>
        <p:nvSpPr>
          <p:cNvPr id="36" name="Oval 35"/>
          <p:cNvSpPr/>
          <p:nvPr/>
        </p:nvSpPr>
        <p:spPr>
          <a:xfrm>
            <a:off x="10579607" y="4297680"/>
            <a:ext cx="640080" cy="64008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37" name="TextBox 36"/>
          <p:cNvSpPr txBox="1"/>
          <p:nvPr/>
        </p:nvSpPr>
        <p:spPr>
          <a:xfrm>
            <a:off x="10012680" y="5029200"/>
            <a:ext cx="1783080" cy="365760"/>
          </a:xfrm>
          <a:prstGeom prst="rect">
            <a:avLst/>
          </a:prstGeom>
          <a:noFill/>
        </p:spPr>
        <p:txBody>
          <a:bodyPr wrap="square" lIns="36576" rIns="36576" tIns="18288" bIns="18288" anchor="t">
            <a:spAutoFit/>
          </a:bodyPr>
          <a:lstStyle/>
          <a:p>
            <a:pPr algn="ctr">
              <a:spcAft>
                <a:spcPts val="400"/>
              </a:spcAft>
            </a:pPr>
            <a:r>
              <a:rPr sz="1500" b="1" i="0">
                <a:solidFill>
                  <a:srgbClr val="1B2635"/>
                </a:solidFill>
                <a:latin typeface="Calibri"/>
              </a:rPr>
              <a:t>Judge verdict</a:t>
            </a:r>
          </a:p>
        </p:txBody>
      </p:sp>
      <p:sp>
        <p:nvSpPr>
          <p:cNvPr id="38" name="TextBox 37"/>
          <p:cNvSpPr txBox="1"/>
          <p:nvPr/>
        </p:nvSpPr>
        <p:spPr>
          <a:xfrm>
            <a:off x="10012680" y="5394960"/>
            <a:ext cx="1783080" cy="457200"/>
          </a:xfrm>
          <a:prstGeom prst="rect">
            <a:avLst/>
          </a:prstGeom>
          <a:noFill/>
        </p:spPr>
        <p:txBody>
          <a:bodyPr wrap="square" lIns="36576" rIns="36576" tIns="18288" bIns="18288" anchor="t">
            <a:spAutoFit/>
          </a:bodyPr>
          <a:lstStyle/>
          <a:p>
            <a:pPr algn="ctr">
              <a:spcAft>
                <a:spcPts val="400"/>
              </a:spcAft>
            </a:pPr>
            <a:r>
              <a:rPr sz="1200" b="0" i="0">
                <a:solidFill>
                  <a:srgbClr val="5B6B7F"/>
                </a:solidFill>
                <a:latin typeface="Calibri"/>
              </a:rPr>
              <a:t>5 quality criteria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55680" y="6400800"/>
            <a:ext cx="731520" cy="274320"/>
          </a:xfrm>
          <a:prstGeom prst="rect">
            <a:avLst/>
          </a:prstGeom>
          <a:noFill/>
        </p:spPr>
        <p:txBody>
          <a:bodyPr wrap="square" lIns="36576" rIns="36576" tIns="18288" bIns="18288" anchor="t">
            <a:spAutoFit/>
          </a:bodyPr>
          <a:lstStyle/>
          <a:p>
            <a:pPr algn="r">
              <a:spcAft>
                <a:spcPts val="400"/>
              </a:spcAft>
            </a:pPr>
            <a:r>
              <a:rPr sz="1000" b="0" i="0">
                <a:solidFill>
                  <a:srgbClr val="5B6B7F"/>
                </a:solidFill>
                <a:latin typeface="Calibri"/>
              </a:rPr>
              <a:t>4</a:t>
            </a:r>
          </a:p>
        </p:txBody>
      </p:sp>
      <p:sp>
        <p:nvSpPr>
          <p:cNvPr id="3" name="Title"/>
          <p:cNvSpPr txBox="1"/>
          <p:nvPr/>
        </p:nvSpPr>
        <p:spPr>
          <a:xfrm>
            <a:off x="548640" y="347472"/>
            <a:ext cx="11064240" cy="731520"/>
          </a:xfrm>
          <a:prstGeom prst="rect">
            <a:avLst/>
          </a:prstGeom>
          <a:noFill/>
        </p:spPr>
        <p:txBody>
          <a:bodyPr wrap="square" lIns="36576" rIns="36576" tIns="18288" bIns="18288" anchor="t">
            <a:spAutoFit/>
          </a:bodyPr>
          <a:lstStyle/>
          <a:p>
            <a:pPr algn="l">
              <a:spcAft>
                <a:spcPts val="400"/>
              </a:spcAft>
            </a:pPr>
            <a:r>
              <a:rPr sz="3400" b="1" i="0">
                <a:solidFill>
                  <a:srgbClr val="0B1F3A"/>
                </a:solidFill>
                <a:latin typeface="Cambria"/>
              </a:rPr>
              <a:t>Architecture: build offline, answer online</a:t>
            </a:r>
          </a:p>
        </p:txBody>
      </p:sp>
      <p:pic>
        <p:nvPicPr>
          <p:cNvPr id="4" name="Picture 3" descr="01_Architecture.jpeg"/>
          <p:cNvPicPr>
            <a:picLocks noChangeAspect="1"/>
          </p:cNvPicPr>
          <p:nvPr/>
        </p:nvPicPr>
        <p:blipFill>
          <a:blip r:embed="rId3"/>
          <a:stretch>
            <a:fillRect/>
          </a:stretch>
        </p:blipFill>
        <p:spPr>
          <a:xfrm>
            <a:off x="1600047" y="1143000"/>
            <a:ext cx="8991600" cy="53949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55680" y="6400800"/>
            <a:ext cx="731520" cy="274320"/>
          </a:xfrm>
          <a:prstGeom prst="rect">
            <a:avLst/>
          </a:prstGeom>
          <a:noFill/>
        </p:spPr>
        <p:txBody>
          <a:bodyPr wrap="square" lIns="36576" rIns="36576" tIns="18288" bIns="18288" anchor="t">
            <a:spAutoFit/>
          </a:bodyPr>
          <a:lstStyle/>
          <a:p>
            <a:pPr algn="r">
              <a:spcAft>
                <a:spcPts val="400"/>
              </a:spcAft>
            </a:pPr>
            <a:r>
              <a:rPr sz="1000" b="0" i="0">
                <a:solidFill>
                  <a:srgbClr val="5B6B7F"/>
                </a:solidFill>
                <a:latin typeface="Calibri"/>
              </a:rPr>
              <a:t>5</a:t>
            </a:r>
          </a:p>
        </p:txBody>
      </p:sp>
      <p:sp>
        <p:nvSpPr>
          <p:cNvPr id="3" name="Title"/>
          <p:cNvSpPr txBox="1"/>
          <p:nvPr/>
        </p:nvSpPr>
        <p:spPr>
          <a:xfrm>
            <a:off x="548640" y="347472"/>
            <a:ext cx="11064240" cy="731520"/>
          </a:xfrm>
          <a:prstGeom prst="rect">
            <a:avLst/>
          </a:prstGeom>
          <a:noFill/>
        </p:spPr>
        <p:txBody>
          <a:bodyPr wrap="square" lIns="36576" rIns="36576" tIns="18288" bIns="18288" anchor="t">
            <a:spAutoFit/>
          </a:bodyPr>
          <a:lstStyle/>
          <a:p>
            <a:pPr algn="l">
              <a:spcAft>
                <a:spcPts val="400"/>
              </a:spcAft>
            </a:pPr>
            <a:r>
              <a:rPr sz="3400" b="1" i="0">
                <a:solidFill>
                  <a:srgbClr val="0B1F3A"/>
                </a:solidFill>
                <a:latin typeface="Cambria"/>
              </a:rPr>
              <a:t>From 100K KPI rows to searchable incidents</a:t>
            </a:r>
          </a:p>
        </p:txBody>
      </p:sp>
      <p:sp>
        <p:nvSpPr>
          <p:cNvPr id="4" name="TextBox 3"/>
          <p:cNvSpPr txBox="1"/>
          <p:nvPr/>
        </p:nvSpPr>
        <p:spPr>
          <a:xfrm>
            <a:off x="566928" y="1024128"/>
            <a:ext cx="11064240" cy="411480"/>
          </a:xfrm>
          <a:prstGeom prst="rect">
            <a:avLst/>
          </a:prstGeom>
          <a:noFill/>
        </p:spPr>
        <p:txBody>
          <a:bodyPr wrap="square" lIns="36576" rIns="36576" tIns="18288" bIns="18288" anchor="t">
            <a:spAutoFit/>
          </a:bodyPr>
          <a:lstStyle/>
          <a:p>
            <a:pPr algn="l">
              <a:spcAft>
                <a:spcPts val="400"/>
              </a:spcAft>
            </a:pPr>
            <a:r>
              <a:rPr sz="1600" b="0" i="1">
                <a:solidFill>
                  <a:srgbClr val="5B6B7F"/>
                </a:solidFill>
                <a:latin typeface="Calibri"/>
              </a:rPr>
              <a:t>5G NetOps dataset (Hugging Face fenar/5g_netops) · 27 fields · one record = one chunk</a:t>
            </a:r>
          </a:p>
        </p:txBody>
      </p:sp>
      <p:sp>
        <p:nvSpPr>
          <p:cNvPr id="5" name="Rounded Rectangle 4"/>
          <p:cNvSpPr/>
          <p:nvPr/>
        </p:nvSpPr>
        <p:spPr>
          <a:xfrm>
            <a:off x="548640" y="1783080"/>
            <a:ext cx="2606040" cy="192024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65960"/>
            <a:ext cx="548640" cy="54864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7" name="TextBox 6"/>
          <p:cNvSpPr txBox="1"/>
          <p:nvPr/>
        </p:nvSpPr>
        <p:spPr>
          <a:xfrm>
            <a:off x="1417319" y="2029968"/>
            <a:ext cx="1691640" cy="457200"/>
          </a:xfrm>
          <a:prstGeom prst="rect">
            <a:avLst/>
          </a:prstGeom>
          <a:noFill/>
        </p:spPr>
        <p:txBody>
          <a:bodyPr wrap="square" lIns="36576" rIns="36576" tIns="18288" bIns="18288" anchor="t">
            <a:spAutoFit/>
          </a:bodyPr>
          <a:lstStyle/>
          <a:p>
            <a:pPr algn="l">
              <a:spcAft>
                <a:spcPts val="400"/>
              </a:spcAft>
            </a:pPr>
            <a:r>
              <a:rPr sz="1600" b="1" i="0">
                <a:solidFill>
                  <a:srgbClr val="0B1F3A"/>
                </a:solidFill>
                <a:latin typeface="Calibri"/>
              </a:rPr>
              <a:t>Ingest &amp; clean</a:t>
            </a:r>
          </a:p>
        </p:txBody>
      </p:sp>
      <p:sp>
        <p:nvSpPr>
          <p:cNvPr id="8" name="TextBox 7"/>
          <p:cNvSpPr txBox="1"/>
          <p:nvPr/>
        </p:nvSpPr>
        <p:spPr>
          <a:xfrm>
            <a:off x="731520" y="2697480"/>
            <a:ext cx="2286000" cy="914400"/>
          </a:xfrm>
          <a:prstGeom prst="rect">
            <a:avLst/>
          </a:prstGeom>
          <a:noFill/>
        </p:spPr>
        <p:txBody>
          <a:bodyPr wrap="square" lIns="36576" rIns="36576" tIns="18288" bIns="18288" anchor="t">
            <a:spAutoFit/>
          </a:bodyPr>
          <a:lstStyle/>
          <a:p>
            <a:pPr algn="l">
              <a:spcAft>
                <a:spcPts val="400"/>
              </a:spcAft>
            </a:pPr>
            <a:r>
              <a:rPr sz="1300" b="0" i="0">
                <a:solidFill>
                  <a:srgbClr val="1B2635"/>
                </a:solidFill>
                <a:latin typeface="Calibri"/>
              </a:rPr>
              <a:t>download, dedupe, impute, clip bounds, fix encoding</a:t>
            </a:r>
          </a:p>
        </p:txBody>
      </p:sp>
      <p:sp>
        <p:nvSpPr>
          <p:cNvPr id="9" name="Rounded Rectangle 8"/>
          <p:cNvSpPr/>
          <p:nvPr/>
        </p:nvSpPr>
        <p:spPr>
          <a:xfrm>
            <a:off x="3383280" y="1783080"/>
            <a:ext cx="2606040" cy="192024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66160" y="1965960"/>
            <a:ext cx="548640" cy="54864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1" name="TextBox 10"/>
          <p:cNvSpPr txBox="1"/>
          <p:nvPr/>
        </p:nvSpPr>
        <p:spPr>
          <a:xfrm>
            <a:off x="4251960" y="2029968"/>
            <a:ext cx="1691640" cy="457200"/>
          </a:xfrm>
          <a:prstGeom prst="rect">
            <a:avLst/>
          </a:prstGeom>
          <a:noFill/>
        </p:spPr>
        <p:txBody>
          <a:bodyPr wrap="square" lIns="36576" rIns="36576" tIns="18288" bIns="18288" anchor="t">
            <a:spAutoFit/>
          </a:bodyPr>
          <a:lstStyle/>
          <a:p>
            <a:pPr algn="l">
              <a:spcAft>
                <a:spcPts val="400"/>
              </a:spcAft>
            </a:pPr>
            <a:r>
              <a:rPr sz="1600" b="1" i="0">
                <a:solidFill>
                  <a:srgbClr val="0B1F3A"/>
                </a:solidFill>
                <a:latin typeface="Calibri"/>
              </a:rPr>
              <a:t>21 KPI conditions</a:t>
            </a:r>
          </a:p>
        </p:txBody>
      </p:sp>
      <p:sp>
        <p:nvSpPr>
          <p:cNvPr id="12" name="TextBox 11"/>
          <p:cNvSpPr txBox="1"/>
          <p:nvPr/>
        </p:nvSpPr>
        <p:spPr>
          <a:xfrm>
            <a:off x="3566160" y="2697480"/>
            <a:ext cx="2286000" cy="914400"/>
          </a:xfrm>
          <a:prstGeom prst="rect">
            <a:avLst/>
          </a:prstGeom>
          <a:noFill/>
        </p:spPr>
        <p:txBody>
          <a:bodyPr wrap="square" lIns="36576" rIns="36576" tIns="18288" bIns="18288" anchor="t">
            <a:spAutoFit/>
          </a:bodyPr>
          <a:lstStyle/>
          <a:p>
            <a:pPr algn="l">
              <a:spcAft>
                <a:spcPts val="400"/>
              </a:spcAft>
            </a:pPr>
            <a:r>
              <a:rPr sz="1300" b="0" i="0">
                <a:solidFill>
                  <a:srgbClr val="1B2635"/>
                </a:solidFill>
                <a:latin typeface="Calibri"/>
              </a:rPr>
              <a:t>degraded ≥ fleet P75, severe ≥ P90 (data-driven)</a:t>
            </a:r>
          </a:p>
        </p:txBody>
      </p:sp>
      <p:sp>
        <p:nvSpPr>
          <p:cNvPr id="13" name="Rounded Rectangle 12"/>
          <p:cNvSpPr/>
          <p:nvPr/>
        </p:nvSpPr>
        <p:spPr>
          <a:xfrm>
            <a:off x="6217920" y="1783080"/>
            <a:ext cx="2606040" cy="192024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0" y="1965960"/>
            <a:ext cx="548640" cy="54864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5" name="TextBox 14"/>
          <p:cNvSpPr txBox="1"/>
          <p:nvPr/>
        </p:nvSpPr>
        <p:spPr>
          <a:xfrm>
            <a:off x="7086600" y="2029968"/>
            <a:ext cx="1691640" cy="457200"/>
          </a:xfrm>
          <a:prstGeom prst="rect">
            <a:avLst/>
          </a:prstGeom>
          <a:noFill/>
        </p:spPr>
        <p:txBody>
          <a:bodyPr wrap="square" lIns="36576" rIns="36576" tIns="18288" bIns="18288" anchor="t">
            <a:spAutoFit/>
          </a:bodyPr>
          <a:lstStyle/>
          <a:p>
            <a:pPr algn="l">
              <a:spcAft>
                <a:spcPts val="400"/>
              </a:spcAft>
            </a:pPr>
            <a:r>
              <a:rPr sz="1600" b="1" i="0">
                <a:solidFill>
                  <a:srgbClr val="0B1F3A"/>
                </a:solidFill>
                <a:latin typeface="Calibri"/>
              </a:rPr>
              <a:t>Taxonomy &amp; risk</a:t>
            </a:r>
          </a:p>
        </p:txBody>
      </p:sp>
      <p:sp>
        <p:nvSpPr>
          <p:cNvPr id="16" name="TextBox 15"/>
          <p:cNvSpPr txBox="1"/>
          <p:nvPr/>
        </p:nvSpPr>
        <p:spPr>
          <a:xfrm>
            <a:off x="6400800" y="2697480"/>
            <a:ext cx="2286000" cy="914400"/>
          </a:xfrm>
          <a:prstGeom prst="rect">
            <a:avLst/>
          </a:prstGeom>
          <a:noFill/>
        </p:spPr>
        <p:txBody>
          <a:bodyPr wrap="square" lIns="36576" rIns="36576" tIns="18288" bIns="18288" anchor="t">
            <a:spAutoFit/>
          </a:bodyPr>
          <a:lstStyle/>
          <a:p>
            <a:pPr algn="l">
              <a:spcAft>
                <a:spcPts val="400"/>
              </a:spcAft>
            </a:pPr>
            <a:r>
              <a:rPr sz="1300" b="0" i="0">
                <a:solidFill>
                  <a:srgbClr val="1B2635"/>
                </a:solidFill>
                <a:latin typeface="Calibri"/>
              </a:rPr>
              <a:t>8 incident classes · risk 0–100 · priority P1–P4</a:t>
            </a:r>
          </a:p>
        </p:txBody>
      </p:sp>
      <p:sp>
        <p:nvSpPr>
          <p:cNvPr id="17" name="Rounded Rectangle 16"/>
          <p:cNvSpPr/>
          <p:nvPr/>
        </p:nvSpPr>
        <p:spPr>
          <a:xfrm>
            <a:off x="9052560" y="1783080"/>
            <a:ext cx="2606040" cy="192024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235440" y="1965960"/>
            <a:ext cx="548640" cy="54864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19" name="TextBox 18"/>
          <p:cNvSpPr txBox="1"/>
          <p:nvPr/>
        </p:nvSpPr>
        <p:spPr>
          <a:xfrm>
            <a:off x="9921240" y="2029968"/>
            <a:ext cx="1691640" cy="457200"/>
          </a:xfrm>
          <a:prstGeom prst="rect">
            <a:avLst/>
          </a:prstGeom>
          <a:noFill/>
        </p:spPr>
        <p:txBody>
          <a:bodyPr wrap="square" lIns="36576" rIns="36576" tIns="18288" bIns="18288" anchor="t">
            <a:spAutoFit/>
          </a:bodyPr>
          <a:lstStyle/>
          <a:p>
            <a:pPr algn="l">
              <a:spcAft>
                <a:spcPts val="400"/>
              </a:spcAft>
            </a:pPr>
            <a:r>
              <a:rPr sz="1600" b="1" i="0">
                <a:solidFill>
                  <a:srgbClr val="0B1F3A"/>
                </a:solidFill>
                <a:latin typeface="Calibri"/>
              </a:rPr>
              <a:t>Narrative + index</a:t>
            </a:r>
          </a:p>
        </p:txBody>
      </p:sp>
      <p:sp>
        <p:nvSpPr>
          <p:cNvPr id="20" name="TextBox 19"/>
          <p:cNvSpPr txBox="1"/>
          <p:nvPr/>
        </p:nvSpPr>
        <p:spPr>
          <a:xfrm>
            <a:off x="9235440" y="2697480"/>
            <a:ext cx="2286000" cy="914400"/>
          </a:xfrm>
          <a:prstGeom prst="rect">
            <a:avLst/>
          </a:prstGeom>
          <a:noFill/>
        </p:spPr>
        <p:txBody>
          <a:bodyPr wrap="square" lIns="36576" rIns="36576" tIns="18288" bIns="18288" anchor="t">
            <a:spAutoFit/>
          </a:bodyPr>
          <a:lstStyle/>
          <a:p>
            <a:pPr algn="l">
              <a:spcAft>
                <a:spcPts val="400"/>
              </a:spcAft>
            </a:pPr>
            <a:r>
              <a:rPr sz="1300" b="0" i="0">
                <a:solidFill>
                  <a:srgbClr val="1B2635"/>
                </a:solidFill>
                <a:latin typeface="Calibri"/>
              </a:rPr>
              <a:t>summary → MiniLM/FAISS · keywords → BM25</a:t>
            </a:r>
          </a:p>
        </p:txBody>
      </p:sp>
      <p:sp>
        <p:nvSpPr>
          <p:cNvPr id="21" name="Rounded Rectangle 20"/>
          <p:cNvSpPr/>
          <p:nvPr/>
        </p:nvSpPr>
        <p:spPr>
          <a:xfrm>
            <a:off x="548640" y="4023360"/>
            <a:ext cx="11064240" cy="2103120"/>
          </a:xfrm>
          <a:prstGeom prst="roundRect">
            <a:avLst>
              <a:gd name="adj" fmla="val 8000"/>
            </a:avLst>
          </a:prstGeom>
          <a:solidFill>
            <a:srgbClr val="FDF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160520"/>
            <a:ext cx="10607040" cy="365760"/>
          </a:xfrm>
          <a:prstGeom prst="rect">
            <a:avLst/>
          </a:prstGeom>
          <a:noFill/>
        </p:spPr>
        <p:txBody>
          <a:bodyPr wrap="square" lIns="36576" rIns="36576" tIns="18288" bIns="18288" anchor="t">
            <a:spAutoFit/>
          </a:bodyPr>
          <a:lstStyle/>
          <a:p>
            <a:pPr algn="l">
              <a:spcAft>
                <a:spcPts val="400"/>
              </a:spcAft>
            </a:pPr>
            <a:r>
              <a:rPr sz="1700" b="1" i="0">
                <a:solidFill>
                  <a:srgbClr val="0B1F3A"/>
                </a:solidFill>
                <a:latin typeface="Cambria"/>
              </a:rPr>
              <a:t>Data findings that shaped the design</a:t>
            </a:r>
          </a:p>
        </p:txBody>
      </p:sp>
      <p:sp>
        <p:nvSpPr>
          <p:cNvPr id="23" name="TextBox 22"/>
          <p:cNvSpPr txBox="1"/>
          <p:nvPr/>
        </p:nvSpPr>
        <p:spPr>
          <a:xfrm>
            <a:off x="777240" y="4617720"/>
            <a:ext cx="10607040" cy="1463040"/>
          </a:xfrm>
          <a:prstGeom prst="rect">
            <a:avLst/>
          </a:prstGeom>
          <a:noFill/>
        </p:spPr>
        <p:txBody>
          <a:bodyPr wrap="square">
            <a:spAutoFit/>
          </a:bodyPr>
          <a:lstStyle/>
          <a:p>
            <a:pPr>
              <a:spcAft>
                <a:spcPts val="900"/>
              </a:spcAft>
            </a:pPr>
            <a:r>
              <a:rPr sz="1400">
                <a:solidFill>
                  <a:srgbClr val="0E9AA7"/>
                </a:solidFill>
                <a:latin typeface="Calibri"/>
              </a:rPr>
              <a:t>▸  </a:t>
            </a:r>
            <a:r>
              <a:rPr sz="1400" b="1">
                <a:solidFill>
                  <a:srgbClr val="1B2635"/>
                </a:solidFill>
                <a:latin typeface="Calibri"/>
              </a:rPr>
              <a:t>Fault rate is near-deterministic </a:t>
            </a:r>
            <a:r>
              <a:rPr sz="1400">
                <a:solidFill>
                  <a:srgbClr val="1B2635"/>
                </a:solidFill>
                <a:latin typeface="Calibri"/>
              </a:rPr>
              <a:t>(R² 1.000; critical alarms r = 0.93) → added an early-warning model on leading indicators (R² 0.64)</a:t>
            </a:r>
          </a:p>
          <a:p>
            <a:pPr>
              <a:spcAft>
                <a:spcPts val="900"/>
              </a:spcAft>
            </a:pPr>
            <a:r>
              <a:rPr sz="1400">
                <a:solidFill>
                  <a:srgbClr val="0E9AA7"/>
                </a:solidFill>
                <a:latin typeface="Calibri"/>
              </a:rPr>
              <a:t>▸  </a:t>
            </a:r>
            <a:r>
              <a:rPr sz="1400" b="1">
                <a:solidFill>
                  <a:srgbClr val="1B2635"/>
                </a:solidFill>
                <a:latin typeface="Calibri"/>
              </a:rPr>
              <a:t>'Issue Reported' is label noise </a:t>
            </a:r>
            <a:r>
              <a:rPr sz="1400">
                <a:solidFill>
                  <a:srgbClr val="1B2635"/>
                </a:solidFill>
                <a:latin typeface="Calibri"/>
              </a:rPr>
              <a:t>(identical KPI means for yes/no) → used only as a filter</a:t>
            </a:r>
          </a:p>
          <a:p>
            <a:pPr>
              <a:spcAft>
                <a:spcPts val="900"/>
              </a:spcAft>
            </a:pPr>
            <a:r>
              <a:rPr sz="1400">
                <a:solidFill>
                  <a:srgbClr val="0E9AA7"/>
                </a:solidFill>
                <a:latin typeface="Calibri"/>
              </a:rPr>
              <a:t>▸  </a:t>
            </a:r>
            <a:r>
              <a:rPr sz="1400" b="1">
                <a:solidFill>
                  <a:srgbClr val="1B2635"/>
                </a:solidFill>
                <a:latin typeface="Calibri"/>
              </a:rPr>
              <a:t>No free text </a:t>
            </a:r>
            <a:r>
              <a:rPr sz="1400">
                <a:solidFill>
                  <a:srgbClr val="1B2635"/>
                </a:solidFill>
                <a:latin typeface="Calibri"/>
              </a:rPr>
              <a:t>→ narratives generated from conditions; numbers kept out of BM25 to avoid vocabulary noise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55680" y="6400800"/>
            <a:ext cx="731520" cy="274320"/>
          </a:xfrm>
          <a:prstGeom prst="rect">
            <a:avLst/>
          </a:prstGeom>
          <a:noFill/>
        </p:spPr>
        <p:txBody>
          <a:bodyPr wrap="square" lIns="36576" rIns="36576" tIns="18288" bIns="18288" anchor="t">
            <a:spAutoFit/>
          </a:bodyPr>
          <a:lstStyle/>
          <a:p>
            <a:pPr algn="r">
              <a:spcAft>
                <a:spcPts val="400"/>
              </a:spcAft>
            </a:pPr>
            <a:r>
              <a:rPr sz="1000" b="0" i="0">
                <a:solidFill>
                  <a:srgbClr val="5B6B7F"/>
                </a:solidFill>
                <a:latin typeface="Calibri"/>
              </a:rPr>
              <a:t>6</a:t>
            </a:r>
          </a:p>
        </p:txBody>
      </p:sp>
      <p:sp>
        <p:nvSpPr>
          <p:cNvPr id="3" name="Title"/>
          <p:cNvSpPr txBox="1"/>
          <p:nvPr/>
        </p:nvSpPr>
        <p:spPr>
          <a:xfrm>
            <a:off x="548640" y="347472"/>
            <a:ext cx="11064240" cy="731520"/>
          </a:xfrm>
          <a:prstGeom prst="rect">
            <a:avLst/>
          </a:prstGeom>
          <a:noFill/>
        </p:spPr>
        <p:txBody>
          <a:bodyPr wrap="square" lIns="36576" rIns="36576" tIns="18288" bIns="18288" anchor="t">
            <a:spAutoFit/>
          </a:bodyPr>
          <a:lstStyle/>
          <a:p>
            <a:pPr algn="l">
              <a:spcAft>
                <a:spcPts val="400"/>
              </a:spcAft>
            </a:pPr>
            <a:r>
              <a:rPr sz="3400" b="1" i="0">
                <a:solidFill>
                  <a:srgbClr val="0B1F3A"/>
                </a:solidFill>
                <a:latin typeface="Cambria"/>
              </a:rPr>
              <a:t>Hybrid + symptom re-rank wins retrieval</a:t>
            </a:r>
          </a:p>
        </p:txBody>
      </p:sp>
      <p:sp>
        <p:nvSpPr>
          <p:cNvPr id="4" name="TextBox 3"/>
          <p:cNvSpPr txBox="1"/>
          <p:nvPr/>
        </p:nvSpPr>
        <p:spPr>
          <a:xfrm>
            <a:off x="566928" y="1024128"/>
            <a:ext cx="11064240" cy="411480"/>
          </a:xfrm>
          <a:prstGeom prst="rect">
            <a:avLst/>
          </a:prstGeom>
          <a:noFill/>
        </p:spPr>
        <p:txBody>
          <a:bodyPr wrap="square" lIns="36576" rIns="36576" tIns="18288" bIns="18288" anchor="t">
            <a:spAutoFit/>
          </a:bodyPr>
          <a:lstStyle/>
          <a:p>
            <a:pPr algn="l">
              <a:spcAft>
                <a:spcPts val="400"/>
              </a:spcAft>
            </a:pPr>
            <a:r>
              <a:rPr sz="1600" b="0" i="1">
                <a:solidFill>
                  <a:srgbClr val="5B6B7F"/>
                </a:solidFill>
                <a:latin typeface="Calibri"/>
              </a:rPr>
              <a:t>Fusion alone does not beat BM25; re-ranking the fused pool on symptoms does</a:t>
            </a:r>
          </a:p>
        </p:txBody>
      </p:sp>
      <p:sp>
        <p:nvSpPr>
          <p:cNvPr id="5" name="TextBox 4"/>
          <p:cNvSpPr txBox="1"/>
          <p:nvPr/>
        </p:nvSpPr>
        <p:spPr>
          <a:xfrm>
            <a:off x="548640" y="1737360"/>
            <a:ext cx="4937760" cy="4480560"/>
          </a:xfrm>
          <a:prstGeom prst="rect">
            <a:avLst/>
          </a:prstGeom>
          <a:noFill/>
        </p:spPr>
        <p:txBody>
          <a:bodyPr wrap="square">
            <a:spAutoFit/>
          </a:bodyPr>
          <a:lstStyle/>
          <a:p>
            <a:pPr>
              <a:spcAft>
                <a:spcPts val="900"/>
              </a:spcAft>
            </a:pPr>
            <a:r>
              <a:rPr sz="1500">
                <a:solidFill>
                  <a:srgbClr val="0E9AA7"/>
                </a:solidFill>
                <a:latin typeface="Calibri"/>
              </a:rPr>
              <a:t>▸  </a:t>
            </a:r>
            <a:r>
              <a:rPr sz="1500" b="1">
                <a:solidFill>
                  <a:srgbClr val="1B2635"/>
                </a:solidFill>
                <a:latin typeface="Calibri"/>
              </a:rPr>
              <a:t>Dense: </a:t>
            </a:r>
            <a:r>
              <a:rPr sz="1500">
                <a:solidFill>
                  <a:srgbClr val="1B2635"/>
                </a:solidFill>
                <a:latin typeface="Calibri"/>
              </a:rPr>
              <a:t>all-MiniLM-L6-v2 → FAISS exact cosine</a:t>
            </a:r>
          </a:p>
          <a:p>
            <a:pPr>
              <a:spcAft>
                <a:spcPts val="900"/>
              </a:spcAft>
            </a:pPr>
            <a:r>
              <a:rPr sz="1500">
                <a:solidFill>
                  <a:srgbClr val="0E9AA7"/>
                </a:solidFill>
                <a:latin typeface="Calibri"/>
              </a:rPr>
              <a:t>▸  </a:t>
            </a:r>
            <a:r>
              <a:rPr sz="1500" b="1">
                <a:solidFill>
                  <a:srgbClr val="1B2635"/>
                </a:solidFill>
                <a:latin typeface="Calibri"/>
              </a:rPr>
              <a:t>Sparse: </a:t>
            </a:r>
            <a:r>
              <a:rPr sz="1500">
                <a:solidFill>
                  <a:srgbClr val="1B2635"/>
                </a:solidFill>
                <a:latin typeface="Calibri"/>
              </a:rPr>
              <a:t>vectorised BM25 (uni+bi-grams) on location, season, weather, conditions, category</a:t>
            </a:r>
          </a:p>
          <a:p>
            <a:pPr>
              <a:spcAft>
                <a:spcPts val="900"/>
              </a:spcAft>
            </a:pPr>
            <a:r>
              <a:rPr sz="1500">
                <a:solidFill>
                  <a:srgbClr val="0E9AA7"/>
                </a:solidFill>
                <a:latin typeface="Calibri"/>
              </a:rPr>
              <a:t>▸  </a:t>
            </a:r>
            <a:r>
              <a:rPr sz="1500" b="1">
                <a:solidFill>
                  <a:srgbClr val="1B2635"/>
                </a:solidFill>
                <a:latin typeface="Calibri"/>
              </a:rPr>
              <a:t>Fusion: </a:t>
            </a:r>
            <a:r>
              <a:rPr sz="1500">
                <a:solidFill>
                  <a:srgbClr val="1B2635"/>
                </a:solidFill>
                <a:latin typeface="Calibri"/>
              </a:rPr>
              <a:t>Reciprocal Rank Fusion, semantic weight α = 0.6 (tunable per request)</a:t>
            </a:r>
          </a:p>
          <a:p>
            <a:pPr>
              <a:spcAft>
                <a:spcPts val="900"/>
              </a:spcAft>
            </a:pPr>
            <a:r>
              <a:rPr sz="1500">
                <a:solidFill>
                  <a:srgbClr val="0E9AA7"/>
                </a:solidFill>
                <a:latin typeface="Calibri"/>
              </a:rPr>
              <a:t>▸  </a:t>
            </a:r>
            <a:r>
              <a:rPr sz="1500" b="1">
                <a:solidFill>
                  <a:srgbClr val="1B2635"/>
                </a:solidFill>
                <a:latin typeface="Calibri"/>
              </a:rPr>
              <a:t>Re-rank: </a:t>
            </a:r>
            <a:r>
              <a:rPr sz="1500">
                <a:solidFill>
                  <a:srgbClr val="1B2635"/>
                </a:solidFill>
                <a:latin typeface="Calibri"/>
              </a:rPr>
              <a:t>+ symptom overlap with query, + feedback boost. This is where the gain comes from</a:t>
            </a:r>
          </a:p>
          <a:p>
            <a:pPr>
              <a:spcAft>
                <a:spcPts val="900"/>
              </a:spcAft>
            </a:pPr>
            <a:r>
              <a:rPr sz="1500">
                <a:solidFill>
                  <a:srgbClr val="0E9AA7"/>
                </a:solidFill>
                <a:latin typeface="Calibri"/>
              </a:rPr>
              <a:t>▸  </a:t>
            </a:r>
            <a:r>
              <a:rPr sz="1500" b="1">
                <a:solidFill>
                  <a:srgbClr val="1B2635"/>
                </a:solidFill>
                <a:latin typeface="Calibri"/>
              </a:rPr>
              <a:t>Filters: </a:t>
            </a:r>
            <a:r>
              <a:rPr sz="1500">
                <a:solidFill>
                  <a:srgbClr val="1B2635"/>
                </a:solidFill>
                <a:latin typeface="Calibri"/>
              </a:rPr>
              <a:t>state, city, season, weather, category, priority, risk, required conditions; auto-detected from text</a:t>
            </a:r>
          </a:p>
        </p:txBody>
      </p:sp>
      <p:graphicFrame>
        <p:nvGraphicFramePr>
          <p:cNvPr id="6" name="Chart 5"/>
          <p:cNvGraphicFramePr>
            <a:graphicFrameLocks noGrp="1"/>
          </p:cNvGraphicFramePr>
          <p:nvPr/>
        </p:nvGraphicFramePr>
        <p:xfrm>
          <a:off x="5760720" y="1645920"/>
          <a:ext cx="5943600" cy="4572000"/>
        </p:xfrm>
        <a:graphic>
          <a:graphicData uri="http://schemas.openxmlformats.org/drawingml/2006/chart">
            <c:chart xmlns:c="http://schemas.openxmlformats.org/drawingml/2006/chart" r:id="rId3"/>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55680" y="6400800"/>
            <a:ext cx="731520" cy="274320"/>
          </a:xfrm>
          <a:prstGeom prst="rect">
            <a:avLst/>
          </a:prstGeom>
          <a:noFill/>
        </p:spPr>
        <p:txBody>
          <a:bodyPr wrap="square" lIns="36576" rIns="36576" tIns="18288" bIns="18288" anchor="t">
            <a:spAutoFit/>
          </a:bodyPr>
          <a:lstStyle/>
          <a:p>
            <a:pPr algn="r">
              <a:spcAft>
                <a:spcPts val="400"/>
              </a:spcAft>
            </a:pPr>
            <a:r>
              <a:rPr sz="1000" b="0" i="0">
                <a:solidFill>
                  <a:srgbClr val="5B6B7F"/>
                </a:solidFill>
                <a:latin typeface="Calibri"/>
              </a:rPr>
              <a:t>7</a:t>
            </a:r>
          </a:p>
        </p:txBody>
      </p:sp>
      <p:sp>
        <p:nvSpPr>
          <p:cNvPr id="3" name="Title"/>
          <p:cNvSpPr txBox="1"/>
          <p:nvPr/>
        </p:nvSpPr>
        <p:spPr>
          <a:xfrm>
            <a:off x="548640" y="347472"/>
            <a:ext cx="11064240" cy="731520"/>
          </a:xfrm>
          <a:prstGeom prst="rect">
            <a:avLst/>
          </a:prstGeom>
          <a:noFill/>
        </p:spPr>
        <p:txBody>
          <a:bodyPr wrap="square" lIns="36576" rIns="36576" tIns="18288" bIns="18288" anchor="t">
            <a:spAutoFit/>
          </a:bodyPr>
          <a:lstStyle/>
          <a:p>
            <a:pPr algn="l">
              <a:spcAft>
                <a:spcPts val="400"/>
              </a:spcAft>
            </a:pPr>
            <a:r>
              <a:rPr sz="3400" b="1" i="0">
                <a:solidFill>
                  <a:srgbClr val="0B1F3A"/>
                </a:solidFill>
                <a:latin typeface="Cambria"/>
              </a:rPr>
              <a:t>Seven agents collaborate on every analysis</a:t>
            </a:r>
          </a:p>
        </p:txBody>
      </p:sp>
      <p:sp>
        <p:nvSpPr>
          <p:cNvPr id="4" name="TextBox 3"/>
          <p:cNvSpPr txBox="1"/>
          <p:nvPr/>
        </p:nvSpPr>
        <p:spPr>
          <a:xfrm>
            <a:off x="566928" y="1024128"/>
            <a:ext cx="11064240" cy="411480"/>
          </a:xfrm>
          <a:prstGeom prst="rect">
            <a:avLst/>
          </a:prstGeom>
          <a:noFill/>
        </p:spPr>
        <p:txBody>
          <a:bodyPr wrap="square" lIns="36576" rIns="36576" tIns="18288" bIns="18288" anchor="t">
            <a:spAutoFit/>
          </a:bodyPr>
          <a:lstStyle/>
          <a:p>
            <a:pPr algn="l">
              <a:spcAft>
                <a:spcPts val="400"/>
              </a:spcAft>
            </a:pPr>
            <a:r>
              <a:rPr sz="1600" b="0" i="1">
                <a:solidFill>
                  <a:srgbClr val="5B6B7F"/>
                </a:solidFill>
                <a:latin typeface="Calibri"/>
              </a:rPr>
              <a:t>Supervisor + shared blackboard · full trace · deterministic fallback for every LLM step</a:t>
            </a:r>
          </a:p>
        </p:txBody>
      </p:sp>
      <p:sp>
        <p:nvSpPr>
          <p:cNvPr id="5" name="Oval 4"/>
          <p:cNvSpPr/>
          <p:nvPr/>
        </p:nvSpPr>
        <p:spPr>
          <a:xfrm>
            <a:off x="960120" y="1920240"/>
            <a:ext cx="731520" cy="73152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6" name="TextBox 5"/>
          <p:cNvSpPr txBox="1"/>
          <p:nvPr/>
        </p:nvSpPr>
        <p:spPr>
          <a:xfrm>
            <a:off x="548640" y="2788920"/>
            <a:ext cx="1554480" cy="685800"/>
          </a:xfrm>
          <a:prstGeom prst="rect">
            <a:avLst/>
          </a:prstGeom>
          <a:noFill/>
        </p:spPr>
        <p:txBody>
          <a:bodyPr wrap="square" lIns="36576" rIns="36576" tIns="18288" bIns="18288" anchor="t">
            <a:spAutoFit/>
          </a:bodyPr>
          <a:lstStyle/>
          <a:p>
            <a:pPr algn="ctr">
              <a:spcAft>
                <a:spcPts val="400"/>
              </a:spcAft>
            </a:pPr>
            <a:r>
              <a:rPr sz="1300" b="1" i="0">
                <a:solidFill>
                  <a:srgbClr val="0B1F3A"/>
                </a:solidFill>
                <a:latin typeface="Calibri"/>
              </a:rPr>
              <a:t>Query understanding</a:t>
            </a:r>
          </a:p>
        </p:txBody>
      </p:sp>
      <p:sp>
        <p:nvSpPr>
          <p:cNvPr id="7" name="TextBox 6"/>
          <p:cNvSpPr txBox="1"/>
          <p:nvPr/>
        </p:nvSpPr>
        <p:spPr>
          <a:xfrm>
            <a:off x="548640" y="3429000"/>
            <a:ext cx="1554480" cy="731520"/>
          </a:xfrm>
          <a:prstGeom prst="rect">
            <a:avLst/>
          </a:prstGeom>
          <a:noFill/>
        </p:spPr>
        <p:txBody>
          <a:bodyPr wrap="square" lIns="36576" rIns="36576" tIns="18288" bIns="18288" anchor="t">
            <a:spAutoFit/>
          </a:bodyPr>
          <a:lstStyle/>
          <a:p>
            <a:pPr algn="ctr">
              <a:spcAft>
                <a:spcPts val="400"/>
              </a:spcAft>
            </a:pPr>
            <a:r>
              <a:rPr sz="1200" b="0" i="0">
                <a:solidFill>
                  <a:srgbClr val="5B6B7F"/>
                </a:solidFill>
                <a:latin typeface="Calibri"/>
              </a:rPr>
              <a:t>symptoms, severity, location</a:t>
            </a:r>
          </a:p>
        </p:txBody>
      </p:sp>
      <p:sp>
        <p:nvSpPr>
          <p:cNvPr id="8" name="Right Arrow 7"/>
          <p:cNvSpPr/>
          <p:nvPr/>
        </p:nvSpPr>
        <p:spPr>
          <a:xfrm>
            <a:off x="1828800" y="2194560"/>
            <a:ext cx="256032" cy="201168"/>
          </a:xfrm>
          <a:prstGeom prst="rightArrow">
            <a:avLst/>
          </a:prstGeom>
          <a:solidFill>
            <a:srgbClr val="B5C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578608" y="1920240"/>
            <a:ext cx="731520" cy="73152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10" name="TextBox 9"/>
          <p:cNvSpPr txBox="1"/>
          <p:nvPr/>
        </p:nvSpPr>
        <p:spPr>
          <a:xfrm>
            <a:off x="2167128" y="2788920"/>
            <a:ext cx="1554480" cy="685800"/>
          </a:xfrm>
          <a:prstGeom prst="rect">
            <a:avLst/>
          </a:prstGeom>
          <a:noFill/>
        </p:spPr>
        <p:txBody>
          <a:bodyPr wrap="square" lIns="36576" rIns="36576" tIns="18288" bIns="18288" anchor="t">
            <a:spAutoFit/>
          </a:bodyPr>
          <a:lstStyle/>
          <a:p>
            <a:pPr algn="ctr">
              <a:spcAft>
                <a:spcPts val="400"/>
              </a:spcAft>
            </a:pPr>
            <a:r>
              <a:rPr sz="1300" b="1" i="0">
                <a:solidFill>
                  <a:srgbClr val="0B1F3A"/>
                </a:solidFill>
                <a:latin typeface="Calibri"/>
              </a:rPr>
              <a:t>Retrieval</a:t>
            </a:r>
          </a:p>
        </p:txBody>
      </p:sp>
      <p:sp>
        <p:nvSpPr>
          <p:cNvPr id="11" name="TextBox 10"/>
          <p:cNvSpPr txBox="1"/>
          <p:nvPr/>
        </p:nvSpPr>
        <p:spPr>
          <a:xfrm>
            <a:off x="2167128" y="3429000"/>
            <a:ext cx="1554480" cy="731520"/>
          </a:xfrm>
          <a:prstGeom prst="rect">
            <a:avLst/>
          </a:prstGeom>
          <a:noFill/>
        </p:spPr>
        <p:txBody>
          <a:bodyPr wrap="square" lIns="36576" rIns="36576" tIns="18288" bIns="18288" anchor="t">
            <a:spAutoFit/>
          </a:bodyPr>
          <a:lstStyle/>
          <a:p>
            <a:pPr algn="ctr">
              <a:spcAft>
                <a:spcPts val="400"/>
              </a:spcAft>
            </a:pPr>
            <a:r>
              <a:rPr sz="1200" b="0" i="0">
                <a:solidFill>
                  <a:srgbClr val="5B6B7F"/>
                </a:solidFill>
                <a:latin typeface="Calibri"/>
              </a:rPr>
              <a:t>hybrid RAG + filters</a:t>
            </a:r>
          </a:p>
        </p:txBody>
      </p:sp>
      <p:sp>
        <p:nvSpPr>
          <p:cNvPr id="12" name="Right Arrow 11"/>
          <p:cNvSpPr/>
          <p:nvPr/>
        </p:nvSpPr>
        <p:spPr>
          <a:xfrm>
            <a:off x="3447288" y="2194560"/>
            <a:ext cx="256032" cy="201168"/>
          </a:xfrm>
          <a:prstGeom prst="rightArrow">
            <a:avLst/>
          </a:prstGeom>
          <a:solidFill>
            <a:srgbClr val="B5C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197096" y="1920240"/>
            <a:ext cx="731520" cy="73152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4" name="TextBox 13"/>
          <p:cNvSpPr txBox="1"/>
          <p:nvPr/>
        </p:nvSpPr>
        <p:spPr>
          <a:xfrm>
            <a:off x="3785615" y="2788920"/>
            <a:ext cx="1554480" cy="685800"/>
          </a:xfrm>
          <a:prstGeom prst="rect">
            <a:avLst/>
          </a:prstGeom>
          <a:noFill/>
        </p:spPr>
        <p:txBody>
          <a:bodyPr wrap="square" lIns="36576" rIns="36576" tIns="18288" bIns="18288" anchor="t">
            <a:spAutoFit/>
          </a:bodyPr>
          <a:lstStyle/>
          <a:p>
            <a:pPr algn="ctr">
              <a:spcAft>
                <a:spcPts val="400"/>
              </a:spcAft>
            </a:pPr>
            <a:r>
              <a:rPr sz="1300" b="1" i="0">
                <a:solidFill>
                  <a:srgbClr val="0B1F3A"/>
                </a:solidFill>
                <a:latin typeface="Calibri"/>
              </a:rPr>
              <a:t>Classification</a:t>
            </a:r>
          </a:p>
        </p:txBody>
      </p:sp>
      <p:sp>
        <p:nvSpPr>
          <p:cNvPr id="15" name="TextBox 14"/>
          <p:cNvSpPr txBox="1"/>
          <p:nvPr/>
        </p:nvSpPr>
        <p:spPr>
          <a:xfrm>
            <a:off x="3785615" y="3429000"/>
            <a:ext cx="1554480" cy="731520"/>
          </a:xfrm>
          <a:prstGeom prst="rect">
            <a:avLst/>
          </a:prstGeom>
          <a:noFill/>
        </p:spPr>
        <p:txBody>
          <a:bodyPr wrap="square" lIns="36576" rIns="36576" tIns="18288" bIns="18288" anchor="t">
            <a:spAutoFit/>
          </a:bodyPr>
          <a:lstStyle/>
          <a:p>
            <a:pPr algn="ctr">
              <a:spcAft>
                <a:spcPts val="400"/>
              </a:spcAft>
            </a:pPr>
            <a:r>
              <a:rPr sz="1200" b="0" i="0">
                <a:solidFill>
                  <a:srgbClr val="5B6B7F"/>
                </a:solidFill>
                <a:latin typeface="Calibri"/>
              </a:rPr>
              <a:t>rules + k-NN vote (+LLM)</a:t>
            </a:r>
          </a:p>
        </p:txBody>
      </p:sp>
      <p:sp>
        <p:nvSpPr>
          <p:cNvPr id="16" name="Right Arrow 15"/>
          <p:cNvSpPr/>
          <p:nvPr/>
        </p:nvSpPr>
        <p:spPr>
          <a:xfrm>
            <a:off x="5065775" y="2194560"/>
            <a:ext cx="256032" cy="201168"/>
          </a:xfrm>
          <a:prstGeom prst="rightArrow">
            <a:avLst/>
          </a:prstGeom>
          <a:solidFill>
            <a:srgbClr val="B5C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15584" y="1920240"/>
            <a:ext cx="731520" cy="73152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8" name="TextBox 17"/>
          <p:cNvSpPr txBox="1"/>
          <p:nvPr/>
        </p:nvSpPr>
        <p:spPr>
          <a:xfrm>
            <a:off x="5404104" y="2788920"/>
            <a:ext cx="1554480" cy="685800"/>
          </a:xfrm>
          <a:prstGeom prst="rect">
            <a:avLst/>
          </a:prstGeom>
          <a:noFill/>
        </p:spPr>
        <p:txBody>
          <a:bodyPr wrap="square" lIns="36576" rIns="36576" tIns="18288" bIns="18288" anchor="t">
            <a:spAutoFit/>
          </a:bodyPr>
          <a:lstStyle/>
          <a:p>
            <a:pPr algn="ctr">
              <a:spcAft>
                <a:spcPts val="400"/>
              </a:spcAft>
            </a:pPr>
            <a:r>
              <a:rPr sz="1300" b="1" i="0">
                <a:solidFill>
                  <a:srgbClr val="0B1F3A"/>
                </a:solidFill>
                <a:latin typeface="Calibri"/>
              </a:rPr>
              <a:t>Risk prediction</a:t>
            </a:r>
          </a:p>
        </p:txBody>
      </p:sp>
      <p:sp>
        <p:nvSpPr>
          <p:cNvPr id="19" name="TextBox 18"/>
          <p:cNvSpPr txBox="1"/>
          <p:nvPr/>
        </p:nvSpPr>
        <p:spPr>
          <a:xfrm>
            <a:off x="5404104" y="3429000"/>
            <a:ext cx="1554480" cy="731520"/>
          </a:xfrm>
          <a:prstGeom prst="rect">
            <a:avLst/>
          </a:prstGeom>
          <a:noFill/>
        </p:spPr>
        <p:txBody>
          <a:bodyPr wrap="square" lIns="36576" rIns="36576" tIns="18288" bIns="18288" anchor="t">
            <a:spAutoFit/>
          </a:bodyPr>
          <a:lstStyle/>
          <a:p>
            <a:pPr algn="ctr">
              <a:spcAft>
                <a:spcPts val="400"/>
              </a:spcAft>
            </a:pPr>
            <a:r>
              <a:rPr sz="1200" b="0" i="0">
                <a:solidFill>
                  <a:srgbClr val="5B6B7F"/>
                </a:solidFill>
                <a:latin typeface="Calibri"/>
              </a:rPr>
              <a:t>case-based KPI profile → ML</a:t>
            </a:r>
          </a:p>
        </p:txBody>
      </p:sp>
      <p:sp>
        <p:nvSpPr>
          <p:cNvPr id="20" name="Right Arrow 19"/>
          <p:cNvSpPr/>
          <p:nvPr/>
        </p:nvSpPr>
        <p:spPr>
          <a:xfrm>
            <a:off x="6684264" y="2194560"/>
            <a:ext cx="256032" cy="201168"/>
          </a:xfrm>
          <a:prstGeom prst="rightArrow">
            <a:avLst/>
          </a:prstGeom>
          <a:solidFill>
            <a:srgbClr val="B5C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434071" y="1920240"/>
            <a:ext cx="731520" cy="73152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5</a:t>
            </a:r>
          </a:p>
        </p:txBody>
      </p:sp>
      <p:sp>
        <p:nvSpPr>
          <p:cNvPr id="22" name="TextBox 21"/>
          <p:cNvSpPr txBox="1"/>
          <p:nvPr/>
        </p:nvSpPr>
        <p:spPr>
          <a:xfrm>
            <a:off x="7022592" y="2788920"/>
            <a:ext cx="1554480" cy="685800"/>
          </a:xfrm>
          <a:prstGeom prst="rect">
            <a:avLst/>
          </a:prstGeom>
          <a:noFill/>
        </p:spPr>
        <p:txBody>
          <a:bodyPr wrap="square" lIns="36576" rIns="36576" tIns="18288" bIns="18288" anchor="t">
            <a:spAutoFit/>
          </a:bodyPr>
          <a:lstStyle/>
          <a:p>
            <a:pPr algn="ctr">
              <a:spcAft>
                <a:spcPts val="400"/>
              </a:spcAft>
            </a:pPr>
            <a:r>
              <a:rPr sz="1300" b="1" i="0">
                <a:solidFill>
                  <a:srgbClr val="0B1F3A"/>
                </a:solidFill>
                <a:latin typeface="Calibri"/>
              </a:rPr>
              <a:t>Root cause &amp; impact</a:t>
            </a:r>
          </a:p>
        </p:txBody>
      </p:sp>
      <p:sp>
        <p:nvSpPr>
          <p:cNvPr id="23" name="TextBox 22"/>
          <p:cNvSpPr txBox="1"/>
          <p:nvPr/>
        </p:nvSpPr>
        <p:spPr>
          <a:xfrm>
            <a:off x="7022592" y="3429000"/>
            <a:ext cx="1554480" cy="731520"/>
          </a:xfrm>
          <a:prstGeom prst="rect">
            <a:avLst/>
          </a:prstGeom>
          <a:noFill/>
        </p:spPr>
        <p:txBody>
          <a:bodyPr wrap="square" lIns="36576" rIns="36576" tIns="18288" bIns="18288" anchor="t">
            <a:spAutoFit/>
          </a:bodyPr>
          <a:lstStyle/>
          <a:p>
            <a:pPr algn="ctr">
              <a:spcAft>
                <a:spcPts val="400"/>
              </a:spcAft>
            </a:pPr>
            <a:r>
              <a:rPr sz="1200" b="0" i="0">
                <a:solidFill>
                  <a:srgbClr val="5B6B7F"/>
                </a:solidFill>
                <a:latin typeface="Calibri"/>
              </a:rPr>
              <a:t>deviations, drivers, users, SLA</a:t>
            </a:r>
          </a:p>
        </p:txBody>
      </p:sp>
      <p:sp>
        <p:nvSpPr>
          <p:cNvPr id="24" name="Right Arrow 23"/>
          <p:cNvSpPr/>
          <p:nvPr/>
        </p:nvSpPr>
        <p:spPr>
          <a:xfrm>
            <a:off x="8302752" y="2194560"/>
            <a:ext cx="256032" cy="201168"/>
          </a:xfrm>
          <a:prstGeom prst="rightArrow">
            <a:avLst/>
          </a:prstGeom>
          <a:solidFill>
            <a:srgbClr val="B5C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052559" y="1920240"/>
            <a:ext cx="731520" cy="73152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6</a:t>
            </a:r>
          </a:p>
        </p:txBody>
      </p:sp>
      <p:sp>
        <p:nvSpPr>
          <p:cNvPr id="26" name="TextBox 25"/>
          <p:cNvSpPr txBox="1"/>
          <p:nvPr/>
        </p:nvSpPr>
        <p:spPr>
          <a:xfrm>
            <a:off x="8641080" y="2788920"/>
            <a:ext cx="1554480" cy="685800"/>
          </a:xfrm>
          <a:prstGeom prst="rect">
            <a:avLst/>
          </a:prstGeom>
          <a:noFill/>
        </p:spPr>
        <p:txBody>
          <a:bodyPr wrap="square" lIns="36576" rIns="36576" tIns="18288" bIns="18288" anchor="t">
            <a:spAutoFit/>
          </a:bodyPr>
          <a:lstStyle/>
          <a:p>
            <a:pPr algn="ctr">
              <a:spcAft>
                <a:spcPts val="400"/>
              </a:spcAft>
            </a:pPr>
            <a:r>
              <a:rPr sz="1300" b="1" i="0">
                <a:solidFill>
                  <a:srgbClr val="0B1F3A"/>
                </a:solidFill>
                <a:latin typeface="Calibri"/>
              </a:rPr>
              <a:t>Recommendation</a:t>
            </a:r>
          </a:p>
        </p:txBody>
      </p:sp>
      <p:sp>
        <p:nvSpPr>
          <p:cNvPr id="27" name="TextBox 26"/>
          <p:cNvSpPr txBox="1"/>
          <p:nvPr/>
        </p:nvSpPr>
        <p:spPr>
          <a:xfrm>
            <a:off x="8641080" y="3429000"/>
            <a:ext cx="1554480" cy="731520"/>
          </a:xfrm>
          <a:prstGeom prst="rect">
            <a:avLst/>
          </a:prstGeom>
          <a:noFill/>
        </p:spPr>
        <p:txBody>
          <a:bodyPr wrap="square" lIns="36576" rIns="36576" tIns="18288" bIns="18288" anchor="t">
            <a:spAutoFit/>
          </a:bodyPr>
          <a:lstStyle/>
          <a:p>
            <a:pPr algn="ctr">
              <a:spcAft>
                <a:spcPts val="400"/>
              </a:spcAft>
            </a:pPr>
            <a:r>
              <a:rPr sz="1200" b="0" i="0">
                <a:solidFill>
                  <a:srgbClr val="5B6B7F"/>
                </a:solidFill>
                <a:latin typeface="Calibri"/>
              </a:rPr>
              <a:t>SOP RAG, cited plan</a:t>
            </a:r>
          </a:p>
        </p:txBody>
      </p:sp>
      <p:sp>
        <p:nvSpPr>
          <p:cNvPr id="28" name="Right Arrow 27"/>
          <p:cNvSpPr/>
          <p:nvPr/>
        </p:nvSpPr>
        <p:spPr>
          <a:xfrm>
            <a:off x="9921240" y="2194560"/>
            <a:ext cx="256032" cy="201168"/>
          </a:xfrm>
          <a:prstGeom prst="rightArrow">
            <a:avLst/>
          </a:prstGeom>
          <a:solidFill>
            <a:srgbClr val="B5C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671048" y="1920240"/>
            <a:ext cx="731520" cy="73152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0B1F3A"/>
                </a:solidFill>
                <a:latin typeface="Calibri"/>
              </a:rPr>
              <a:t>7</a:t>
            </a:r>
          </a:p>
        </p:txBody>
      </p:sp>
      <p:sp>
        <p:nvSpPr>
          <p:cNvPr id="30" name="TextBox 29"/>
          <p:cNvSpPr txBox="1"/>
          <p:nvPr/>
        </p:nvSpPr>
        <p:spPr>
          <a:xfrm>
            <a:off x="10259568" y="2788920"/>
            <a:ext cx="1554480" cy="685800"/>
          </a:xfrm>
          <a:prstGeom prst="rect">
            <a:avLst/>
          </a:prstGeom>
          <a:noFill/>
        </p:spPr>
        <p:txBody>
          <a:bodyPr wrap="square" lIns="36576" rIns="36576" tIns="18288" bIns="18288" anchor="t">
            <a:spAutoFit/>
          </a:bodyPr>
          <a:lstStyle/>
          <a:p>
            <a:pPr algn="ctr">
              <a:spcAft>
                <a:spcPts val="400"/>
              </a:spcAft>
            </a:pPr>
            <a:r>
              <a:rPr sz="1300" b="1" i="0">
                <a:solidFill>
                  <a:srgbClr val="0B1F3A"/>
                </a:solidFill>
                <a:latin typeface="Calibri"/>
              </a:rPr>
              <a:t>LLM-as-judge</a:t>
            </a:r>
          </a:p>
        </p:txBody>
      </p:sp>
      <p:sp>
        <p:nvSpPr>
          <p:cNvPr id="31" name="TextBox 30"/>
          <p:cNvSpPr txBox="1"/>
          <p:nvPr/>
        </p:nvSpPr>
        <p:spPr>
          <a:xfrm>
            <a:off x="10259568" y="3429000"/>
            <a:ext cx="1554480" cy="731520"/>
          </a:xfrm>
          <a:prstGeom prst="rect">
            <a:avLst/>
          </a:prstGeom>
          <a:noFill/>
        </p:spPr>
        <p:txBody>
          <a:bodyPr wrap="square" lIns="36576" rIns="36576" tIns="18288" bIns="18288" anchor="t">
            <a:spAutoFit/>
          </a:bodyPr>
          <a:lstStyle/>
          <a:p>
            <a:pPr algn="ctr">
              <a:spcAft>
                <a:spcPts val="400"/>
              </a:spcAft>
            </a:pPr>
            <a:r>
              <a:rPr sz="1200" b="0" i="0">
                <a:solidFill>
                  <a:srgbClr val="5B6B7F"/>
                </a:solidFill>
                <a:latin typeface="Calibri"/>
              </a:rPr>
              <a:t>5 criteria → pass / revise</a:t>
            </a:r>
          </a:p>
        </p:txBody>
      </p:sp>
      <p:sp>
        <p:nvSpPr>
          <p:cNvPr id="32" name="Rounded Rectangle 31"/>
          <p:cNvSpPr/>
          <p:nvPr/>
        </p:nvSpPr>
        <p:spPr>
          <a:xfrm>
            <a:off x="548640" y="4434840"/>
            <a:ext cx="11064240" cy="169164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553712"/>
            <a:ext cx="10607040" cy="365760"/>
          </a:xfrm>
          <a:prstGeom prst="rect">
            <a:avLst/>
          </a:prstGeom>
          <a:noFill/>
        </p:spPr>
        <p:txBody>
          <a:bodyPr wrap="square" lIns="36576" rIns="36576" tIns="18288" bIns="18288" anchor="t">
            <a:spAutoFit/>
          </a:bodyPr>
          <a:lstStyle/>
          <a:p>
            <a:pPr algn="l">
              <a:spcAft>
                <a:spcPts val="400"/>
              </a:spcAft>
            </a:pPr>
            <a:r>
              <a:rPr sz="1700" b="1" i="0">
                <a:solidFill>
                  <a:srgbClr val="0B1F3A"/>
                </a:solidFill>
                <a:latin typeface="Cambria"/>
              </a:rPr>
              <a:t>Collaboration loop</a:t>
            </a:r>
          </a:p>
        </p:txBody>
      </p:sp>
      <p:sp>
        <p:nvSpPr>
          <p:cNvPr id="34" name="TextBox 33"/>
          <p:cNvSpPr txBox="1"/>
          <p:nvPr/>
        </p:nvSpPr>
        <p:spPr>
          <a:xfrm>
            <a:off x="777240" y="4983480"/>
            <a:ext cx="10607040" cy="1097280"/>
          </a:xfrm>
          <a:prstGeom prst="rect">
            <a:avLst/>
          </a:prstGeom>
          <a:noFill/>
        </p:spPr>
        <p:txBody>
          <a:bodyPr wrap="square">
            <a:spAutoFit/>
          </a:bodyPr>
          <a:lstStyle/>
          <a:p>
            <a:pPr>
              <a:spcAft>
                <a:spcPts val="900"/>
              </a:spcAft>
            </a:pPr>
            <a:r>
              <a:rPr sz="1400">
                <a:solidFill>
                  <a:srgbClr val="0E9AA7"/>
                </a:solidFill>
                <a:latin typeface="Calibri"/>
              </a:rPr>
              <a:t>▸  </a:t>
            </a:r>
            <a:r>
              <a:rPr sz="1400" b="1">
                <a:solidFill>
                  <a:srgbClr val="1B2635"/>
                </a:solidFill>
                <a:latin typeface="Calibri"/>
              </a:rPr>
              <a:t>Judge → Recommendation: </a:t>
            </a:r>
            <a:r>
              <a:rPr sz="1400">
                <a:solidFill>
                  <a:srgbClr val="1B2635"/>
                </a:solidFill>
                <a:latin typeface="Calibri"/>
              </a:rPr>
              <a:t>if groundedness ≤ 3 or any score ≤ 2, the issues are sent back and the plan is rebuilt (e.g. adds SOPs for uncovered symptoms); at most one revision bounds cost</a:t>
            </a:r>
          </a:p>
          <a:p>
            <a:pPr>
              <a:spcAft>
                <a:spcPts val="900"/>
              </a:spcAft>
            </a:pPr>
            <a:r>
              <a:rPr sz="1400">
                <a:solidFill>
                  <a:srgbClr val="0E9AA7"/>
                </a:solidFill>
                <a:latin typeface="Calibri"/>
              </a:rPr>
              <a:t>▸  </a:t>
            </a:r>
            <a:r>
              <a:rPr sz="1400" b="1">
                <a:solidFill>
                  <a:srgbClr val="1B2635"/>
                </a:solidFill>
                <a:latin typeface="Calibri"/>
              </a:rPr>
              <a:t>Why plain Python, not LangGraph: </a:t>
            </a:r>
            <a:r>
              <a:rPr sz="1400">
                <a:solidFill>
                  <a:srgbClr val="1B2635"/>
                </a:solidFill>
                <a:latin typeface="Calibri"/>
              </a:rPr>
              <a:t>a fixed DAG plus one loop gives deterministic, testable, fast control flow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55680" y="6400800"/>
            <a:ext cx="731520" cy="274320"/>
          </a:xfrm>
          <a:prstGeom prst="rect">
            <a:avLst/>
          </a:prstGeom>
          <a:noFill/>
        </p:spPr>
        <p:txBody>
          <a:bodyPr wrap="square" lIns="36576" rIns="36576" tIns="18288" bIns="18288" anchor="t">
            <a:spAutoFit/>
          </a:bodyPr>
          <a:lstStyle/>
          <a:p>
            <a:pPr algn="r">
              <a:spcAft>
                <a:spcPts val="400"/>
              </a:spcAft>
            </a:pPr>
            <a:r>
              <a:rPr sz="1000" b="0" i="0">
                <a:solidFill>
                  <a:srgbClr val="5B6B7F"/>
                </a:solidFill>
                <a:latin typeface="Calibri"/>
              </a:rPr>
              <a:t>8</a:t>
            </a:r>
          </a:p>
        </p:txBody>
      </p:sp>
      <p:sp>
        <p:nvSpPr>
          <p:cNvPr id="3" name="Title"/>
          <p:cNvSpPr txBox="1"/>
          <p:nvPr/>
        </p:nvSpPr>
        <p:spPr>
          <a:xfrm>
            <a:off x="548640" y="347472"/>
            <a:ext cx="11064240" cy="731520"/>
          </a:xfrm>
          <a:prstGeom prst="rect">
            <a:avLst/>
          </a:prstGeom>
          <a:noFill/>
        </p:spPr>
        <p:txBody>
          <a:bodyPr wrap="square" lIns="36576" rIns="36576" tIns="18288" bIns="18288" anchor="t">
            <a:spAutoFit/>
          </a:bodyPr>
          <a:lstStyle/>
          <a:p>
            <a:pPr algn="l">
              <a:spcAft>
                <a:spcPts val="400"/>
              </a:spcAft>
            </a:pPr>
            <a:r>
              <a:rPr sz="3400" b="1" i="0">
                <a:solidFill>
                  <a:srgbClr val="0B1F3A"/>
                </a:solidFill>
                <a:latin typeface="Cambria"/>
              </a:rPr>
              <a:t>Predicting risk, explaining the root cause</a:t>
            </a:r>
          </a:p>
        </p:txBody>
      </p:sp>
      <p:sp>
        <p:nvSpPr>
          <p:cNvPr id="4" name="TextBox 3"/>
          <p:cNvSpPr txBox="1"/>
          <p:nvPr/>
        </p:nvSpPr>
        <p:spPr>
          <a:xfrm>
            <a:off x="566928" y="1024128"/>
            <a:ext cx="11064240" cy="411480"/>
          </a:xfrm>
          <a:prstGeom prst="rect">
            <a:avLst/>
          </a:prstGeom>
          <a:noFill/>
        </p:spPr>
        <p:txBody>
          <a:bodyPr wrap="square" lIns="36576" rIns="36576" tIns="18288" bIns="18288" anchor="t">
            <a:spAutoFit/>
          </a:bodyPr>
          <a:lstStyle/>
          <a:p>
            <a:pPr algn="l">
              <a:spcAft>
                <a:spcPts val="400"/>
              </a:spcAft>
            </a:pPr>
            <a:r>
              <a:rPr sz="1600" b="0" i="1">
                <a:solidFill>
                  <a:srgbClr val="5B6B7F"/>
                </a:solidFill>
                <a:latin typeface="Calibri"/>
              </a:rPr>
              <a:t>HistGradientBoosting models with local driver explanations</a:t>
            </a:r>
          </a:p>
        </p:txBody>
      </p:sp>
      <p:graphicFrame>
        <p:nvGraphicFramePr>
          <p:cNvPr id="5" name="Chart 4"/>
          <p:cNvGraphicFramePr>
            <a:graphicFrameLocks noGrp="1"/>
          </p:cNvGraphicFramePr>
          <p:nvPr/>
        </p:nvGraphicFramePr>
        <p:xfrm>
          <a:off x="457200" y="1600200"/>
          <a:ext cx="5760720" cy="4480560"/>
        </p:xfrm>
        <a:graphic>
          <a:graphicData uri="http://schemas.openxmlformats.org/drawingml/2006/chart">
            <c:chart xmlns:c="http://schemas.openxmlformats.org/drawingml/2006/chart" r:id="rId3"/>
          </a:graphicData>
        </a:graphic>
      </p:graphicFrame>
      <p:sp>
        <p:nvSpPr>
          <p:cNvPr id="6" name="TextBox 5"/>
          <p:cNvSpPr txBox="1"/>
          <p:nvPr/>
        </p:nvSpPr>
        <p:spPr>
          <a:xfrm>
            <a:off x="6583680" y="1691640"/>
            <a:ext cx="5029200" cy="365760"/>
          </a:xfrm>
          <a:prstGeom prst="rect">
            <a:avLst/>
          </a:prstGeom>
          <a:noFill/>
        </p:spPr>
        <p:txBody>
          <a:bodyPr wrap="square" lIns="36576" rIns="36576" tIns="18288" bIns="18288" anchor="t">
            <a:spAutoFit/>
          </a:bodyPr>
          <a:lstStyle/>
          <a:p>
            <a:pPr algn="l">
              <a:spcAft>
                <a:spcPts val="400"/>
              </a:spcAft>
            </a:pPr>
            <a:r>
              <a:rPr sz="1700" b="1" i="0">
                <a:solidFill>
                  <a:srgbClr val="0B1F3A"/>
                </a:solidFill>
                <a:latin typeface="Cambria"/>
              </a:rPr>
              <a:t>Root cause = three independent signals</a:t>
            </a:r>
          </a:p>
        </p:txBody>
      </p:sp>
      <p:sp>
        <p:nvSpPr>
          <p:cNvPr id="7" name="Oval 6"/>
          <p:cNvSpPr/>
          <p:nvPr/>
        </p:nvSpPr>
        <p:spPr>
          <a:xfrm>
            <a:off x="6583680" y="2240280"/>
            <a:ext cx="640080" cy="64008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σ</a:t>
            </a:r>
          </a:p>
        </p:txBody>
      </p:sp>
      <p:sp>
        <p:nvSpPr>
          <p:cNvPr id="8" name="TextBox 7"/>
          <p:cNvSpPr txBox="1"/>
          <p:nvPr/>
        </p:nvSpPr>
        <p:spPr>
          <a:xfrm>
            <a:off x="7360920" y="2221992"/>
            <a:ext cx="4297680" cy="365760"/>
          </a:xfrm>
          <a:prstGeom prst="rect">
            <a:avLst/>
          </a:prstGeom>
          <a:noFill/>
        </p:spPr>
        <p:txBody>
          <a:bodyPr wrap="square" lIns="36576" rIns="36576" tIns="18288" bIns="18288" anchor="t">
            <a:spAutoFit/>
          </a:bodyPr>
          <a:lstStyle/>
          <a:p>
            <a:pPr algn="l">
              <a:spcAft>
                <a:spcPts val="400"/>
              </a:spcAft>
            </a:pPr>
            <a:r>
              <a:rPr sz="1500" b="1" i="0">
                <a:solidFill>
                  <a:srgbClr val="1B2635"/>
                </a:solidFill>
                <a:latin typeface="Calibri"/>
              </a:rPr>
              <a:t>KPI deviation</a:t>
            </a:r>
          </a:p>
        </p:txBody>
      </p:sp>
      <p:sp>
        <p:nvSpPr>
          <p:cNvPr id="9" name="TextBox 8"/>
          <p:cNvSpPr txBox="1"/>
          <p:nvPr/>
        </p:nvSpPr>
        <p:spPr>
          <a:xfrm>
            <a:off x="7360920" y="2560320"/>
            <a:ext cx="4297680" cy="457200"/>
          </a:xfrm>
          <a:prstGeom prst="rect">
            <a:avLst/>
          </a:prstGeom>
          <a:noFill/>
        </p:spPr>
        <p:txBody>
          <a:bodyPr wrap="square" lIns="36576" rIns="36576" tIns="18288" bIns="18288" anchor="t">
            <a:spAutoFit/>
          </a:bodyPr>
          <a:lstStyle/>
          <a:p>
            <a:pPr algn="l">
              <a:spcAft>
                <a:spcPts val="400"/>
              </a:spcAft>
            </a:pPr>
            <a:r>
              <a:rPr sz="1300" b="0" i="0">
                <a:solidFill>
                  <a:srgbClr val="5B6B7F"/>
                </a:solidFill>
                <a:latin typeface="Calibri"/>
              </a:rPr>
              <a:t>direction-aware z-scores vs fleet baseline</a:t>
            </a:r>
          </a:p>
        </p:txBody>
      </p:sp>
      <p:sp>
        <p:nvSpPr>
          <p:cNvPr id="10" name="Oval 9"/>
          <p:cNvSpPr/>
          <p:nvPr/>
        </p:nvSpPr>
        <p:spPr>
          <a:xfrm>
            <a:off x="6583680" y="3200400"/>
            <a:ext cx="640080" cy="64008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ƒ</a:t>
            </a:r>
          </a:p>
        </p:txBody>
      </p:sp>
      <p:sp>
        <p:nvSpPr>
          <p:cNvPr id="11" name="TextBox 10"/>
          <p:cNvSpPr txBox="1"/>
          <p:nvPr/>
        </p:nvSpPr>
        <p:spPr>
          <a:xfrm>
            <a:off x="7360920" y="3182112"/>
            <a:ext cx="4297680" cy="365760"/>
          </a:xfrm>
          <a:prstGeom prst="rect">
            <a:avLst/>
          </a:prstGeom>
          <a:noFill/>
        </p:spPr>
        <p:txBody>
          <a:bodyPr wrap="square" lIns="36576" rIns="36576" tIns="18288" bIns="18288" anchor="t">
            <a:spAutoFit/>
          </a:bodyPr>
          <a:lstStyle/>
          <a:p>
            <a:pPr algn="l">
              <a:spcAft>
                <a:spcPts val="400"/>
              </a:spcAft>
            </a:pPr>
            <a:r>
              <a:rPr sz="1500" b="1" i="0">
                <a:solidFill>
                  <a:srgbClr val="1B2635"/>
                </a:solidFill>
                <a:latin typeface="Calibri"/>
              </a:rPr>
              <a:t>Model drivers</a:t>
            </a:r>
          </a:p>
        </p:txBody>
      </p:sp>
      <p:sp>
        <p:nvSpPr>
          <p:cNvPr id="12" name="TextBox 11"/>
          <p:cNvSpPr txBox="1"/>
          <p:nvPr/>
        </p:nvSpPr>
        <p:spPr>
          <a:xfrm>
            <a:off x="7360920" y="3520440"/>
            <a:ext cx="4297680" cy="457200"/>
          </a:xfrm>
          <a:prstGeom prst="rect">
            <a:avLst/>
          </a:prstGeom>
          <a:noFill/>
        </p:spPr>
        <p:txBody>
          <a:bodyPr wrap="square" lIns="36576" rIns="36576" tIns="18288" bIns="18288" anchor="t">
            <a:spAutoFit/>
          </a:bodyPr>
          <a:lstStyle/>
          <a:p>
            <a:pPr algn="l">
              <a:spcAft>
                <a:spcPts val="400"/>
              </a:spcAft>
            </a:pPr>
            <a:r>
              <a:rPr sz="1300" b="0" i="0">
                <a:solidFill>
                  <a:srgbClr val="5B6B7F"/>
                </a:solidFill>
                <a:latin typeface="Calibri"/>
              </a:rPr>
              <a:t>median-substitution ablation on the fault model</a:t>
            </a:r>
          </a:p>
        </p:txBody>
      </p:sp>
      <p:sp>
        <p:nvSpPr>
          <p:cNvPr id="13" name="Oval 12"/>
          <p:cNvSpPr/>
          <p:nvPr/>
        </p:nvSpPr>
        <p:spPr>
          <a:xfrm>
            <a:off x="6583680" y="4160520"/>
            <a:ext cx="640080" cy="64008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7360920" y="4142232"/>
            <a:ext cx="4297680" cy="365760"/>
          </a:xfrm>
          <a:prstGeom prst="rect">
            <a:avLst/>
          </a:prstGeom>
          <a:noFill/>
        </p:spPr>
        <p:txBody>
          <a:bodyPr wrap="square" lIns="36576" rIns="36576" tIns="18288" bIns="18288" anchor="t">
            <a:spAutoFit/>
          </a:bodyPr>
          <a:lstStyle/>
          <a:p>
            <a:pPr algn="l">
              <a:spcAft>
                <a:spcPts val="400"/>
              </a:spcAft>
            </a:pPr>
            <a:r>
              <a:rPr sz="1500" b="1" i="0">
                <a:solidFill>
                  <a:srgbClr val="1B2635"/>
                </a:solidFill>
                <a:latin typeface="Calibri"/>
              </a:rPr>
              <a:t>Historical evidence</a:t>
            </a:r>
          </a:p>
        </p:txBody>
      </p:sp>
      <p:sp>
        <p:nvSpPr>
          <p:cNvPr id="15" name="TextBox 14"/>
          <p:cNvSpPr txBox="1"/>
          <p:nvPr/>
        </p:nvSpPr>
        <p:spPr>
          <a:xfrm>
            <a:off x="7360920" y="4480560"/>
            <a:ext cx="4297680" cy="457200"/>
          </a:xfrm>
          <a:prstGeom prst="rect">
            <a:avLst/>
          </a:prstGeom>
          <a:noFill/>
        </p:spPr>
        <p:txBody>
          <a:bodyPr wrap="square" lIns="36576" rIns="36576" tIns="18288" bIns="18288" anchor="t">
            <a:spAutoFit/>
          </a:bodyPr>
          <a:lstStyle/>
          <a:p>
            <a:pPr algn="l">
              <a:spcAft>
                <a:spcPts val="400"/>
              </a:spcAft>
            </a:pPr>
            <a:r>
              <a:rPr sz="1300" b="0" i="0">
                <a:solidFill>
                  <a:srgbClr val="5B6B7F"/>
                </a:solidFill>
                <a:latin typeface="Calibri"/>
              </a:rPr>
              <a:t>condition prevalence in the top-k similar cases</a:t>
            </a:r>
          </a:p>
        </p:txBody>
      </p:sp>
      <p:sp>
        <p:nvSpPr>
          <p:cNvPr id="16" name="Rounded Rectangle 15"/>
          <p:cNvSpPr/>
          <p:nvPr/>
        </p:nvSpPr>
        <p:spPr>
          <a:xfrm>
            <a:off x="6583680" y="5166360"/>
            <a:ext cx="5029200" cy="96012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0" y="5257800"/>
            <a:ext cx="4663440" cy="822960"/>
          </a:xfrm>
          <a:prstGeom prst="rect">
            <a:avLst/>
          </a:prstGeom>
          <a:noFill/>
        </p:spPr>
        <p:txBody>
          <a:bodyPr wrap="square" lIns="36576" rIns="36576" tIns="18288" bIns="18288" anchor="t">
            <a:spAutoFit/>
          </a:bodyPr>
          <a:lstStyle/>
          <a:p>
            <a:pPr algn="l">
              <a:spcAft>
                <a:spcPts val="400"/>
              </a:spcAft>
            </a:pPr>
            <a:r>
              <a:rPr sz="1300" b="1" i="0">
                <a:solidFill>
                  <a:srgbClr val="1B2635"/>
                </a:solidFill>
                <a:latin typeface="Calibri"/>
              </a:rPr>
              <a:t>Impact: </a:t>
            </a:r>
            <a:r>
              <a:rPr sz="1300" b="0" i="0">
                <a:solidFill>
                  <a:srgbClr val="1B2635"/>
                </a:solidFill>
                <a:latin typeface="Calibri"/>
              </a:rPr>
              <a:t>users affected, data at risk, availability gap, expected MTTR, SLA breach risk, services affected, pattern prevalence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55680" y="6400800"/>
            <a:ext cx="731520" cy="274320"/>
          </a:xfrm>
          <a:prstGeom prst="rect">
            <a:avLst/>
          </a:prstGeom>
          <a:noFill/>
        </p:spPr>
        <p:txBody>
          <a:bodyPr wrap="square" lIns="36576" rIns="36576" tIns="18288" bIns="18288" anchor="t">
            <a:spAutoFit/>
          </a:bodyPr>
          <a:lstStyle/>
          <a:p>
            <a:pPr algn="r">
              <a:spcAft>
                <a:spcPts val="400"/>
              </a:spcAft>
            </a:pPr>
            <a:r>
              <a:rPr sz="1000" b="0" i="0">
                <a:solidFill>
                  <a:srgbClr val="5B6B7F"/>
                </a:solidFill>
                <a:latin typeface="Calibri"/>
              </a:rPr>
              <a:t>9</a:t>
            </a:r>
          </a:p>
        </p:txBody>
      </p:sp>
      <p:sp>
        <p:nvSpPr>
          <p:cNvPr id="3" name="Title"/>
          <p:cNvSpPr txBox="1"/>
          <p:nvPr/>
        </p:nvSpPr>
        <p:spPr>
          <a:xfrm>
            <a:off x="548640" y="347472"/>
            <a:ext cx="11064240" cy="731520"/>
          </a:xfrm>
          <a:prstGeom prst="rect">
            <a:avLst/>
          </a:prstGeom>
          <a:noFill/>
        </p:spPr>
        <p:txBody>
          <a:bodyPr wrap="square" lIns="36576" rIns="36576" tIns="18288" bIns="18288" anchor="t">
            <a:spAutoFit/>
          </a:bodyPr>
          <a:lstStyle/>
          <a:p>
            <a:pPr algn="l">
              <a:spcAft>
                <a:spcPts val="400"/>
              </a:spcAft>
            </a:pPr>
            <a:r>
              <a:rPr sz="3400" b="1" i="0">
                <a:solidFill>
                  <a:srgbClr val="0B1F3A"/>
                </a:solidFill>
                <a:latin typeface="Cambria"/>
              </a:rPr>
              <a:t>Safe by design, better with every rating</a:t>
            </a:r>
          </a:p>
        </p:txBody>
      </p:sp>
      <p:sp>
        <p:nvSpPr>
          <p:cNvPr id="4" name="TextBox 3"/>
          <p:cNvSpPr txBox="1"/>
          <p:nvPr/>
        </p:nvSpPr>
        <p:spPr>
          <a:xfrm>
            <a:off x="566928" y="1024128"/>
            <a:ext cx="11064240" cy="411480"/>
          </a:xfrm>
          <a:prstGeom prst="rect">
            <a:avLst/>
          </a:prstGeom>
          <a:noFill/>
        </p:spPr>
        <p:txBody>
          <a:bodyPr wrap="square" lIns="36576" rIns="36576" tIns="18288" bIns="18288" anchor="t">
            <a:spAutoFit/>
          </a:bodyPr>
          <a:lstStyle/>
          <a:p>
            <a:pPr algn="l">
              <a:spcAft>
                <a:spcPts val="400"/>
              </a:spcAft>
            </a:pPr>
            <a:r>
              <a:rPr sz="1600" b="0" i="1">
                <a:solidFill>
                  <a:srgbClr val="5B6B7F"/>
                </a:solidFill>
                <a:latin typeface="Calibri"/>
              </a:rPr>
              <a:t>Guardrails on input and output · feedback flows back into ranking and actions</a:t>
            </a:r>
          </a:p>
        </p:txBody>
      </p:sp>
      <p:sp>
        <p:nvSpPr>
          <p:cNvPr id="5" name="Rounded Rectangle 4"/>
          <p:cNvSpPr/>
          <p:nvPr/>
        </p:nvSpPr>
        <p:spPr>
          <a:xfrm>
            <a:off x="548640" y="1737360"/>
            <a:ext cx="3520440" cy="438912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920240"/>
            <a:ext cx="685800" cy="68580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a:t>
            </a:r>
          </a:p>
        </p:txBody>
      </p:sp>
      <p:sp>
        <p:nvSpPr>
          <p:cNvPr id="7" name="TextBox 6"/>
          <p:cNvSpPr txBox="1"/>
          <p:nvPr/>
        </p:nvSpPr>
        <p:spPr>
          <a:xfrm>
            <a:off x="1600200" y="2057400"/>
            <a:ext cx="2377440" cy="457200"/>
          </a:xfrm>
          <a:prstGeom prst="rect">
            <a:avLst/>
          </a:prstGeom>
          <a:noFill/>
        </p:spPr>
        <p:txBody>
          <a:bodyPr wrap="square" lIns="36576" rIns="36576" tIns="18288" bIns="18288" anchor="t">
            <a:spAutoFit/>
          </a:bodyPr>
          <a:lstStyle/>
          <a:p>
            <a:pPr algn="l">
              <a:spcAft>
                <a:spcPts val="400"/>
              </a:spcAft>
            </a:pPr>
            <a:r>
              <a:rPr sz="1800" b="1" i="0">
                <a:solidFill>
                  <a:srgbClr val="0B1F3A"/>
                </a:solidFill>
                <a:latin typeface="Cambria"/>
              </a:rPr>
              <a:t>Input guardrails</a:t>
            </a:r>
          </a:p>
        </p:txBody>
      </p:sp>
      <p:sp>
        <p:nvSpPr>
          <p:cNvPr id="8" name="TextBox 7"/>
          <p:cNvSpPr txBox="1"/>
          <p:nvPr/>
        </p:nvSpPr>
        <p:spPr>
          <a:xfrm>
            <a:off x="777240" y="2834640"/>
            <a:ext cx="3108960" cy="3200400"/>
          </a:xfrm>
          <a:prstGeom prst="rect">
            <a:avLst/>
          </a:prstGeom>
          <a:noFill/>
        </p:spPr>
        <p:txBody>
          <a:bodyPr wrap="square">
            <a:spAutoFit/>
          </a:bodyPr>
          <a:lstStyle/>
          <a:p>
            <a:pPr>
              <a:spcAft>
                <a:spcPts val="900"/>
              </a:spcAft>
            </a:pPr>
            <a:r>
              <a:rPr sz="1400">
                <a:solidFill>
                  <a:srgbClr val="0E9AA7"/>
                </a:solidFill>
                <a:latin typeface="Calibri"/>
              </a:rPr>
              <a:t>▸  </a:t>
            </a:r>
            <a:r>
              <a:rPr sz="1400">
                <a:solidFill>
                  <a:srgbClr val="1B2635"/>
                </a:solidFill>
                <a:latin typeface="Calibri"/>
              </a:rPr>
              <a:t>Pydantic ranges &amp; enums on every field</a:t>
            </a:r>
          </a:p>
          <a:p>
            <a:pPr>
              <a:spcAft>
                <a:spcPts val="900"/>
              </a:spcAft>
            </a:pPr>
            <a:r>
              <a:rPr sz="1400">
                <a:solidFill>
                  <a:srgbClr val="0E9AA7"/>
                </a:solidFill>
                <a:latin typeface="Calibri"/>
              </a:rPr>
              <a:t>▸  </a:t>
            </a:r>
            <a:r>
              <a:rPr sz="1400">
                <a:solidFill>
                  <a:srgbClr val="1B2635"/>
                </a:solidFill>
                <a:latin typeface="Calibri"/>
              </a:rPr>
              <a:t>13 prompt-injection / SQL / script patterns → 422</a:t>
            </a:r>
          </a:p>
          <a:p>
            <a:pPr>
              <a:spcAft>
                <a:spcPts val="900"/>
              </a:spcAft>
            </a:pPr>
            <a:r>
              <a:rPr sz="1400">
                <a:solidFill>
                  <a:srgbClr val="0E9AA7"/>
                </a:solidFill>
                <a:latin typeface="Calibri"/>
              </a:rPr>
              <a:t>▸  </a:t>
            </a:r>
            <a:r>
              <a:rPr sz="1400">
                <a:solidFill>
                  <a:srgbClr val="1B2635"/>
                </a:solidFill>
                <a:latin typeface="Calibri"/>
              </a:rPr>
              <a:t>PII redaction: email, phone, IMSI, card</a:t>
            </a:r>
          </a:p>
          <a:p>
            <a:pPr>
              <a:spcAft>
                <a:spcPts val="900"/>
              </a:spcAft>
            </a:pPr>
            <a:r>
              <a:rPr sz="1400">
                <a:solidFill>
                  <a:srgbClr val="0E9AA7"/>
                </a:solidFill>
                <a:latin typeface="Calibri"/>
              </a:rPr>
              <a:t>▸  </a:t>
            </a:r>
            <a:r>
              <a:rPr sz="1400">
                <a:solidFill>
                  <a:srgbClr val="1B2635"/>
                </a:solidFill>
                <a:latin typeface="Calibri"/>
              </a:rPr>
              <a:t>domain-relevance check (off-topic → 422)</a:t>
            </a:r>
          </a:p>
        </p:txBody>
      </p:sp>
      <p:sp>
        <p:nvSpPr>
          <p:cNvPr id="9" name="Rounded Rectangle 8"/>
          <p:cNvSpPr/>
          <p:nvPr/>
        </p:nvSpPr>
        <p:spPr>
          <a:xfrm>
            <a:off x="4297679" y="1737360"/>
            <a:ext cx="3520440" cy="438912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26279" y="1920240"/>
            <a:ext cx="685800" cy="68580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a:t>
            </a:r>
          </a:p>
        </p:txBody>
      </p:sp>
      <p:sp>
        <p:nvSpPr>
          <p:cNvPr id="11" name="TextBox 10"/>
          <p:cNvSpPr txBox="1"/>
          <p:nvPr/>
        </p:nvSpPr>
        <p:spPr>
          <a:xfrm>
            <a:off x="5349240" y="2057400"/>
            <a:ext cx="2377440" cy="457200"/>
          </a:xfrm>
          <a:prstGeom prst="rect">
            <a:avLst/>
          </a:prstGeom>
          <a:noFill/>
        </p:spPr>
        <p:txBody>
          <a:bodyPr wrap="square" lIns="36576" rIns="36576" tIns="18288" bIns="18288" anchor="t">
            <a:spAutoFit/>
          </a:bodyPr>
          <a:lstStyle/>
          <a:p>
            <a:pPr algn="l">
              <a:spcAft>
                <a:spcPts val="400"/>
              </a:spcAft>
            </a:pPr>
            <a:r>
              <a:rPr sz="1800" b="1" i="0">
                <a:solidFill>
                  <a:srgbClr val="0B1F3A"/>
                </a:solidFill>
                <a:latin typeface="Cambria"/>
              </a:rPr>
              <a:t>Output guardrails</a:t>
            </a:r>
          </a:p>
        </p:txBody>
      </p:sp>
      <p:sp>
        <p:nvSpPr>
          <p:cNvPr id="12" name="TextBox 11"/>
          <p:cNvSpPr txBox="1"/>
          <p:nvPr/>
        </p:nvSpPr>
        <p:spPr>
          <a:xfrm>
            <a:off x="4526279" y="2834640"/>
            <a:ext cx="3108960" cy="3200400"/>
          </a:xfrm>
          <a:prstGeom prst="rect">
            <a:avLst/>
          </a:prstGeom>
          <a:noFill/>
        </p:spPr>
        <p:txBody>
          <a:bodyPr wrap="square">
            <a:spAutoFit/>
          </a:bodyPr>
          <a:lstStyle/>
          <a:p>
            <a:pPr>
              <a:spcAft>
                <a:spcPts val="900"/>
              </a:spcAft>
            </a:pPr>
            <a:r>
              <a:rPr sz="1400">
                <a:solidFill>
                  <a:srgbClr val="0E9AA7"/>
                </a:solidFill>
                <a:latin typeface="Calibri"/>
              </a:rPr>
              <a:t>▸  </a:t>
            </a:r>
            <a:r>
              <a:rPr sz="1400">
                <a:solidFill>
                  <a:srgbClr val="1B2635"/>
                </a:solidFill>
                <a:latin typeface="Calibri"/>
              </a:rPr>
              <a:t>citations must be retrieved case IDs or SOPs</a:t>
            </a:r>
          </a:p>
          <a:p>
            <a:pPr>
              <a:spcAft>
                <a:spcPts val="900"/>
              </a:spcAft>
            </a:pPr>
            <a:r>
              <a:rPr sz="1400">
                <a:solidFill>
                  <a:srgbClr val="0E9AA7"/>
                </a:solidFill>
                <a:latin typeface="Calibri"/>
              </a:rPr>
              <a:t>▸  </a:t>
            </a:r>
            <a:r>
              <a:rPr sz="1400">
                <a:solidFill>
                  <a:srgbClr val="1B2635"/>
                </a:solidFill>
                <a:latin typeface="Calibri"/>
              </a:rPr>
              <a:t>unsafe steps removed (e.g. disable alarms)</a:t>
            </a:r>
          </a:p>
          <a:p>
            <a:pPr>
              <a:spcAft>
                <a:spcPts val="900"/>
              </a:spcAft>
            </a:pPr>
            <a:r>
              <a:rPr sz="1400">
                <a:solidFill>
                  <a:srgbClr val="0E9AA7"/>
                </a:solidFill>
                <a:latin typeface="Calibri"/>
              </a:rPr>
              <a:t>▸  </a:t>
            </a:r>
            <a:r>
              <a:rPr sz="1400">
                <a:solidFill>
                  <a:srgbClr val="1B2635"/>
                </a:solidFill>
                <a:latin typeface="Calibri"/>
              </a:rPr>
              <a:t>service-affecting steps need approval</a:t>
            </a:r>
          </a:p>
          <a:p>
            <a:pPr>
              <a:spcAft>
                <a:spcPts val="900"/>
              </a:spcAft>
            </a:pPr>
            <a:r>
              <a:rPr sz="1400">
                <a:solidFill>
                  <a:srgbClr val="0E9AA7"/>
                </a:solidFill>
                <a:latin typeface="Calibri"/>
              </a:rPr>
              <a:t>▸  </a:t>
            </a:r>
            <a:r>
              <a:rPr sz="1400">
                <a:solidFill>
                  <a:srgbClr val="1B2635"/>
                </a:solidFill>
                <a:latin typeface="Calibri"/>
              </a:rPr>
              <a:t>optional X-API-Key, request-ID audit trail</a:t>
            </a:r>
          </a:p>
        </p:txBody>
      </p:sp>
      <p:sp>
        <p:nvSpPr>
          <p:cNvPr id="13" name="Rounded Rectangle 12"/>
          <p:cNvSpPr/>
          <p:nvPr/>
        </p:nvSpPr>
        <p:spPr>
          <a:xfrm>
            <a:off x="8046719" y="1737360"/>
            <a:ext cx="3520440" cy="438912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75319" y="1920240"/>
            <a:ext cx="685800" cy="68580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a:t>
            </a:r>
          </a:p>
        </p:txBody>
      </p:sp>
      <p:sp>
        <p:nvSpPr>
          <p:cNvPr id="15" name="TextBox 14"/>
          <p:cNvSpPr txBox="1"/>
          <p:nvPr/>
        </p:nvSpPr>
        <p:spPr>
          <a:xfrm>
            <a:off x="9098280" y="2057400"/>
            <a:ext cx="2377440" cy="457200"/>
          </a:xfrm>
          <a:prstGeom prst="rect">
            <a:avLst/>
          </a:prstGeom>
          <a:noFill/>
        </p:spPr>
        <p:txBody>
          <a:bodyPr wrap="square" lIns="36576" rIns="36576" tIns="18288" bIns="18288" anchor="t">
            <a:spAutoFit/>
          </a:bodyPr>
          <a:lstStyle/>
          <a:p>
            <a:pPr algn="l">
              <a:spcAft>
                <a:spcPts val="400"/>
              </a:spcAft>
            </a:pPr>
            <a:r>
              <a:rPr sz="1800" b="1" i="0">
                <a:solidFill>
                  <a:srgbClr val="0B1F3A"/>
                </a:solidFill>
                <a:latin typeface="Cambria"/>
              </a:rPr>
              <a:t>Feedback loop</a:t>
            </a:r>
          </a:p>
        </p:txBody>
      </p:sp>
      <p:sp>
        <p:nvSpPr>
          <p:cNvPr id="16" name="TextBox 15"/>
          <p:cNvSpPr txBox="1"/>
          <p:nvPr/>
        </p:nvSpPr>
        <p:spPr>
          <a:xfrm>
            <a:off x="8275319" y="2834640"/>
            <a:ext cx="3108960" cy="3200400"/>
          </a:xfrm>
          <a:prstGeom prst="rect">
            <a:avLst/>
          </a:prstGeom>
          <a:noFill/>
        </p:spPr>
        <p:txBody>
          <a:bodyPr wrap="square">
            <a:spAutoFit/>
          </a:bodyPr>
          <a:lstStyle/>
          <a:p>
            <a:pPr>
              <a:spcAft>
                <a:spcPts val="900"/>
              </a:spcAft>
            </a:pPr>
            <a:r>
              <a:rPr sz="1400">
                <a:solidFill>
                  <a:srgbClr val="0E9AA7"/>
                </a:solidFill>
                <a:latin typeface="Calibri"/>
              </a:rPr>
              <a:t>▸  </a:t>
            </a:r>
            <a:r>
              <a:rPr sz="1400">
                <a:solidFill>
                  <a:srgbClr val="1B2635"/>
                </a:solidFill>
                <a:latin typeface="Calibri"/>
              </a:rPr>
              <a:t>1–5 rating, helpful cases, effective actions</a:t>
            </a:r>
          </a:p>
          <a:p>
            <a:pPr>
              <a:spcAft>
                <a:spcPts val="900"/>
              </a:spcAft>
            </a:pPr>
            <a:r>
              <a:rPr sz="1400">
                <a:solidFill>
                  <a:srgbClr val="0E9AA7"/>
                </a:solidFill>
                <a:latin typeface="Calibri"/>
              </a:rPr>
              <a:t>▸  </a:t>
            </a:r>
            <a:r>
              <a:rPr sz="1400">
                <a:solidFill>
                  <a:srgbClr val="1B2635"/>
                </a:solidFill>
                <a:latin typeface="Calibri"/>
              </a:rPr>
              <a:t>case boost/penalty in re-ranking (±0.15)</a:t>
            </a:r>
          </a:p>
          <a:p>
            <a:pPr>
              <a:spcAft>
                <a:spcPts val="900"/>
              </a:spcAft>
            </a:pPr>
            <a:r>
              <a:rPr sz="1400">
                <a:solidFill>
                  <a:srgbClr val="0E9AA7"/>
                </a:solidFill>
                <a:latin typeface="Calibri"/>
              </a:rPr>
              <a:t>▸  </a:t>
            </a:r>
            <a:r>
              <a:rPr sz="1400">
                <a:solidFill>
                  <a:srgbClr val="1B2635"/>
                </a:solidFill>
                <a:latin typeface="Calibri"/>
              </a:rPr>
              <a:t>actions re-ordered per category</a:t>
            </a:r>
          </a:p>
          <a:p>
            <a:pPr>
              <a:spcAft>
                <a:spcPts val="900"/>
              </a:spcAft>
            </a:pPr>
            <a:r>
              <a:rPr sz="1400">
                <a:solidFill>
                  <a:srgbClr val="0E9AA7"/>
                </a:solidFill>
                <a:latin typeface="Calibri"/>
              </a:rPr>
              <a:t>▸  </a:t>
            </a:r>
            <a:r>
              <a:rPr sz="1400">
                <a:solidFill>
                  <a:srgbClr val="1B2635"/>
                </a:solidFill>
                <a:latin typeface="Calibri"/>
              </a:rPr>
              <a:t>category corrections → new labelled examples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55680" y="6400800"/>
            <a:ext cx="731520" cy="274320"/>
          </a:xfrm>
          <a:prstGeom prst="rect">
            <a:avLst/>
          </a:prstGeom>
          <a:noFill/>
        </p:spPr>
        <p:txBody>
          <a:bodyPr wrap="square" lIns="36576" rIns="36576" tIns="18288" bIns="18288" anchor="t">
            <a:spAutoFit/>
          </a:bodyPr>
          <a:lstStyle/>
          <a:p>
            <a:pPr algn="r">
              <a:spcAft>
                <a:spcPts val="400"/>
              </a:spcAft>
            </a:pPr>
            <a:r>
              <a:rPr sz="1000" b="0" i="0">
                <a:solidFill>
                  <a:srgbClr val="5B6B7F"/>
                </a:solidFill>
                <a:latin typeface="Calibri"/>
              </a:rPr>
              <a:t>10</a:t>
            </a:r>
          </a:p>
        </p:txBody>
      </p:sp>
      <p:sp>
        <p:nvSpPr>
          <p:cNvPr id="3" name="Title"/>
          <p:cNvSpPr txBox="1"/>
          <p:nvPr/>
        </p:nvSpPr>
        <p:spPr>
          <a:xfrm>
            <a:off x="548640" y="347472"/>
            <a:ext cx="11064240" cy="731520"/>
          </a:xfrm>
          <a:prstGeom prst="rect">
            <a:avLst/>
          </a:prstGeom>
          <a:noFill/>
        </p:spPr>
        <p:txBody>
          <a:bodyPr wrap="square" lIns="36576" rIns="36576" tIns="18288" bIns="18288" anchor="t">
            <a:spAutoFit/>
          </a:bodyPr>
          <a:lstStyle/>
          <a:p>
            <a:pPr algn="l">
              <a:spcAft>
                <a:spcPts val="400"/>
              </a:spcAft>
            </a:pPr>
            <a:r>
              <a:rPr sz="3400" b="1" i="0">
                <a:solidFill>
                  <a:srgbClr val="0B1F3A"/>
                </a:solidFill>
                <a:latin typeface="Cambria"/>
              </a:rPr>
              <a:t>Measured, not assumed</a:t>
            </a:r>
          </a:p>
        </p:txBody>
      </p:sp>
      <p:sp>
        <p:nvSpPr>
          <p:cNvPr id="4" name="TextBox 3"/>
          <p:cNvSpPr txBox="1"/>
          <p:nvPr/>
        </p:nvSpPr>
        <p:spPr>
          <a:xfrm>
            <a:off x="566928" y="1024128"/>
            <a:ext cx="11064240" cy="411480"/>
          </a:xfrm>
          <a:prstGeom prst="rect">
            <a:avLst/>
          </a:prstGeom>
          <a:noFill/>
        </p:spPr>
        <p:txBody>
          <a:bodyPr wrap="square" lIns="36576" rIns="36576" tIns="18288" bIns="18288" anchor="t">
            <a:spAutoFit/>
          </a:bodyPr>
          <a:lstStyle/>
          <a:p>
            <a:pPr algn="l">
              <a:spcAft>
                <a:spcPts val="400"/>
              </a:spcAft>
            </a:pPr>
            <a:r>
              <a:rPr sz="1600" b="0" i="1">
                <a:solidFill>
                  <a:srgbClr val="5B6B7F"/>
                </a:solidFill>
                <a:latin typeface="Calibri"/>
              </a:rPr>
              <a:t>pytest suite · retrieval benchmark · golden-set evaluation · DeepEval when an LLM is configured</a:t>
            </a:r>
          </a:p>
        </p:txBody>
      </p:sp>
      <p:sp>
        <p:nvSpPr>
          <p:cNvPr id="5" name="Rounded Rectangle 4"/>
          <p:cNvSpPr/>
          <p:nvPr/>
        </p:nvSpPr>
        <p:spPr>
          <a:xfrm>
            <a:off x="548640" y="1737360"/>
            <a:ext cx="2331720" cy="16002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74519"/>
            <a:ext cx="2057400" cy="822960"/>
          </a:xfrm>
          <a:prstGeom prst="rect">
            <a:avLst/>
          </a:prstGeom>
          <a:noFill/>
        </p:spPr>
        <p:txBody>
          <a:bodyPr wrap="square" lIns="36576" rIns="36576" tIns="18288" bIns="18288" anchor="t">
            <a:spAutoFit/>
          </a:bodyPr>
          <a:lstStyle/>
          <a:p>
            <a:pPr algn="ctr">
              <a:spcAft>
                <a:spcPts val="400"/>
              </a:spcAft>
            </a:pPr>
            <a:r>
              <a:rPr sz="4000" b="1" i="0">
                <a:solidFill>
                  <a:srgbClr val="0E9AA7"/>
                </a:solidFill>
                <a:latin typeface="Cambria"/>
              </a:rPr>
              <a:t>0.95</a:t>
            </a:r>
          </a:p>
        </p:txBody>
      </p:sp>
      <p:sp>
        <p:nvSpPr>
          <p:cNvPr id="7" name="TextBox 6"/>
          <p:cNvSpPr txBox="1"/>
          <p:nvPr/>
        </p:nvSpPr>
        <p:spPr>
          <a:xfrm>
            <a:off x="685800" y="2697480"/>
            <a:ext cx="2057400" cy="548640"/>
          </a:xfrm>
          <a:prstGeom prst="rect">
            <a:avLst/>
          </a:prstGeom>
          <a:noFill/>
        </p:spPr>
        <p:txBody>
          <a:bodyPr wrap="square" lIns="36576" rIns="36576" tIns="18288" bIns="18288" anchor="t">
            <a:spAutoFit/>
          </a:bodyPr>
          <a:lstStyle/>
          <a:p>
            <a:pPr algn="ctr">
              <a:spcAft>
                <a:spcPts val="400"/>
              </a:spcAft>
            </a:pPr>
            <a:r>
              <a:rPr sz="1300" b="0" i="0">
                <a:solidFill>
                  <a:srgbClr val="1B2635"/>
                </a:solidFill>
                <a:latin typeface="Calibri"/>
              </a:rPr>
              <a:t>symptom-extraction F1</a:t>
            </a:r>
          </a:p>
        </p:txBody>
      </p:sp>
      <p:sp>
        <p:nvSpPr>
          <p:cNvPr id="8" name="Rounded Rectangle 7"/>
          <p:cNvSpPr/>
          <p:nvPr/>
        </p:nvSpPr>
        <p:spPr>
          <a:xfrm>
            <a:off x="3063240" y="1737360"/>
            <a:ext cx="2331720" cy="16002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0" y="1874519"/>
            <a:ext cx="2057400" cy="822960"/>
          </a:xfrm>
          <a:prstGeom prst="rect">
            <a:avLst/>
          </a:prstGeom>
          <a:noFill/>
        </p:spPr>
        <p:txBody>
          <a:bodyPr wrap="square" lIns="36576" rIns="36576" tIns="18288" bIns="18288" anchor="t">
            <a:spAutoFit/>
          </a:bodyPr>
          <a:lstStyle/>
          <a:p>
            <a:pPr algn="ctr">
              <a:spcAft>
                <a:spcPts val="400"/>
              </a:spcAft>
            </a:pPr>
            <a:r>
              <a:rPr sz="4000" b="1" i="0">
                <a:solidFill>
                  <a:srgbClr val="0E9AA7"/>
                </a:solidFill>
                <a:latin typeface="Cambria"/>
              </a:rPr>
              <a:t>100%</a:t>
            </a:r>
          </a:p>
        </p:txBody>
      </p:sp>
      <p:sp>
        <p:nvSpPr>
          <p:cNvPr id="10" name="TextBox 9"/>
          <p:cNvSpPr txBox="1"/>
          <p:nvPr/>
        </p:nvSpPr>
        <p:spPr>
          <a:xfrm>
            <a:off x="3200400" y="2697480"/>
            <a:ext cx="2057400" cy="548640"/>
          </a:xfrm>
          <a:prstGeom prst="rect">
            <a:avLst/>
          </a:prstGeom>
          <a:noFill/>
        </p:spPr>
        <p:txBody>
          <a:bodyPr wrap="square" lIns="36576" rIns="36576" tIns="18288" bIns="18288" anchor="t">
            <a:spAutoFit/>
          </a:bodyPr>
          <a:lstStyle/>
          <a:p>
            <a:pPr algn="ctr">
              <a:spcAft>
                <a:spcPts val="400"/>
              </a:spcAft>
            </a:pPr>
            <a:r>
              <a:rPr sz="1300" b="0" i="0">
                <a:solidFill>
                  <a:srgbClr val="1B2635"/>
                </a:solidFill>
                <a:latin typeface="Calibri"/>
              </a:rPr>
              <a:t>SOP coverage</a:t>
            </a:r>
          </a:p>
        </p:txBody>
      </p:sp>
      <p:sp>
        <p:nvSpPr>
          <p:cNvPr id="11" name="Rounded Rectangle 10"/>
          <p:cNvSpPr/>
          <p:nvPr/>
        </p:nvSpPr>
        <p:spPr>
          <a:xfrm>
            <a:off x="548640" y="3566160"/>
            <a:ext cx="2331720" cy="16002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03320"/>
            <a:ext cx="2057400" cy="822960"/>
          </a:xfrm>
          <a:prstGeom prst="rect">
            <a:avLst/>
          </a:prstGeom>
          <a:noFill/>
        </p:spPr>
        <p:txBody>
          <a:bodyPr wrap="square" lIns="36576" rIns="36576" tIns="18288" bIns="18288" anchor="t">
            <a:spAutoFit/>
          </a:bodyPr>
          <a:lstStyle/>
          <a:p>
            <a:pPr algn="ctr">
              <a:spcAft>
                <a:spcPts val="400"/>
              </a:spcAft>
            </a:pPr>
            <a:r>
              <a:rPr sz="4000" b="1" i="0">
                <a:solidFill>
                  <a:srgbClr val="0E9AA7"/>
                </a:solidFill>
                <a:latin typeface="Cambria"/>
              </a:rPr>
              <a:t>100%</a:t>
            </a:r>
          </a:p>
        </p:txBody>
      </p:sp>
      <p:sp>
        <p:nvSpPr>
          <p:cNvPr id="13" name="TextBox 12"/>
          <p:cNvSpPr txBox="1"/>
          <p:nvPr/>
        </p:nvSpPr>
        <p:spPr>
          <a:xfrm>
            <a:off x="685800" y="4526280"/>
            <a:ext cx="2057400" cy="548640"/>
          </a:xfrm>
          <a:prstGeom prst="rect">
            <a:avLst/>
          </a:prstGeom>
          <a:noFill/>
        </p:spPr>
        <p:txBody>
          <a:bodyPr wrap="square" lIns="36576" rIns="36576" tIns="18288" bIns="18288" anchor="t">
            <a:spAutoFit/>
          </a:bodyPr>
          <a:lstStyle/>
          <a:p>
            <a:pPr algn="ctr">
              <a:spcAft>
                <a:spcPts val="400"/>
              </a:spcAft>
            </a:pPr>
            <a:r>
              <a:rPr sz="1300" b="0" i="0">
                <a:solidFill>
                  <a:srgbClr val="1B2635"/>
                </a:solidFill>
                <a:latin typeface="Calibri"/>
              </a:rPr>
              <a:t>valid citations</a:t>
            </a:r>
          </a:p>
        </p:txBody>
      </p:sp>
      <p:sp>
        <p:nvSpPr>
          <p:cNvPr id="14" name="Rounded Rectangle 13"/>
          <p:cNvSpPr/>
          <p:nvPr/>
        </p:nvSpPr>
        <p:spPr>
          <a:xfrm>
            <a:off x="3063240" y="3566160"/>
            <a:ext cx="2331720" cy="16002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0" y="3703320"/>
            <a:ext cx="2057400" cy="822960"/>
          </a:xfrm>
          <a:prstGeom prst="rect">
            <a:avLst/>
          </a:prstGeom>
          <a:noFill/>
        </p:spPr>
        <p:txBody>
          <a:bodyPr wrap="square" lIns="36576" rIns="36576" tIns="18288" bIns="18288" anchor="t">
            <a:spAutoFit/>
          </a:bodyPr>
          <a:lstStyle/>
          <a:p>
            <a:pPr algn="ctr">
              <a:spcAft>
                <a:spcPts val="400"/>
              </a:spcAft>
            </a:pPr>
            <a:r>
              <a:rPr sz="4000" b="1" i="0">
                <a:solidFill>
                  <a:srgbClr val="0E9AA7"/>
                </a:solidFill>
                <a:latin typeface="Cambria"/>
              </a:rPr>
              <a:t>4.9/5</a:t>
            </a:r>
          </a:p>
        </p:txBody>
      </p:sp>
      <p:sp>
        <p:nvSpPr>
          <p:cNvPr id="16" name="TextBox 15"/>
          <p:cNvSpPr txBox="1"/>
          <p:nvPr/>
        </p:nvSpPr>
        <p:spPr>
          <a:xfrm>
            <a:off x="3200400" y="4526280"/>
            <a:ext cx="2057400" cy="548640"/>
          </a:xfrm>
          <a:prstGeom prst="rect">
            <a:avLst/>
          </a:prstGeom>
          <a:noFill/>
        </p:spPr>
        <p:txBody>
          <a:bodyPr wrap="square" lIns="36576" rIns="36576" tIns="18288" bIns="18288" anchor="t">
            <a:spAutoFit/>
          </a:bodyPr>
          <a:lstStyle/>
          <a:p>
            <a:pPr algn="ctr">
              <a:spcAft>
                <a:spcPts val="400"/>
              </a:spcAft>
            </a:pPr>
            <a:r>
              <a:rPr sz="1300" b="0" i="0">
                <a:solidFill>
                  <a:srgbClr val="1B2635"/>
                </a:solidFill>
                <a:latin typeface="Calibri"/>
              </a:rPr>
              <a:t>judge score</a:t>
            </a:r>
          </a:p>
        </p:txBody>
      </p:sp>
      <p:graphicFrame>
        <p:nvGraphicFramePr>
          <p:cNvPr id="17" name="Chart 16"/>
          <p:cNvGraphicFramePr>
            <a:graphicFrameLocks noGrp="1"/>
          </p:cNvGraphicFramePr>
          <p:nvPr/>
        </p:nvGraphicFramePr>
        <p:xfrm>
          <a:off x="5760720" y="1600200"/>
          <a:ext cx="5943600" cy="4023360"/>
        </p:xfrm>
        <a:graphic>
          <a:graphicData uri="http://schemas.openxmlformats.org/drawingml/2006/chart">
            <c:chart xmlns:c="http://schemas.openxmlformats.org/drawingml/2006/chart" r:id="rId3"/>
          </a:graphicData>
        </a:graphic>
      </p:graphicFrame>
      <p:sp>
        <p:nvSpPr>
          <p:cNvPr id="18" name="TextBox 17"/>
          <p:cNvSpPr txBox="1"/>
          <p:nvPr/>
        </p:nvSpPr>
        <p:spPr>
          <a:xfrm>
            <a:off x="548640" y="5532120"/>
            <a:ext cx="11064240" cy="640080"/>
          </a:xfrm>
          <a:prstGeom prst="rect">
            <a:avLst/>
          </a:prstGeom>
          <a:noFill/>
        </p:spPr>
        <p:txBody>
          <a:bodyPr wrap="square" lIns="36576" rIns="36576" tIns="18288" bIns="18288" anchor="t">
            <a:spAutoFit/>
          </a:bodyPr>
          <a:lstStyle/>
          <a:p>
            <a:pPr algn="l">
              <a:spcAft>
                <a:spcPts val="400"/>
              </a:spcAft>
            </a:pPr>
            <a:r>
              <a:rPr sz="1400" b="1" i="0">
                <a:solidFill>
                  <a:srgbClr val="0B1F3A"/>
                </a:solidFill>
                <a:latin typeface="Calibri"/>
              </a:rPr>
              <a:t>DeepEval metrics: </a:t>
            </a:r>
            <a:r>
              <a:rPr sz="1400" b="0" i="0">
                <a:solidFill>
                  <a:srgbClr val="1B2635"/>
                </a:solidFill>
                <a:latin typeface="Calibri"/>
              </a:rPr>
              <a:t>AnswerRelevancy · Faithfulness · ContextualRelevancy · GEval Recommendation Quality · GEval Diagnosis Correctness (judge = configured LLM)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55680" y="6400800"/>
            <a:ext cx="731520" cy="274320"/>
          </a:xfrm>
          <a:prstGeom prst="rect">
            <a:avLst/>
          </a:prstGeom>
          <a:noFill/>
        </p:spPr>
        <p:txBody>
          <a:bodyPr wrap="square" lIns="36576" rIns="36576" tIns="18288" bIns="18288" anchor="t">
            <a:spAutoFit/>
          </a:bodyPr>
          <a:lstStyle/>
          <a:p>
            <a:pPr algn="r">
              <a:spcAft>
                <a:spcPts val="400"/>
              </a:spcAft>
            </a:pPr>
            <a:r>
              <a:rPr sz="1000" b="0" i="0">
                <a:solidFill>
                  <a:srgbClr val="5B6B7F"/>
                </a:solidFill>
                <a:latin typeface="Calibri"/>
              </a:rPr>
              <a:t>11</a:t>
            </a:r>
          </a:p>
        </p:txBody>
      </p:sp>
      <p:sp>
        <p:nvSpPr>
          <p:cNvPr id="3" name="Title"/>
          <p:cNvSpPr txBox="1"/>
          <p:nvPr/>
        </p:nvSpPr>
        <p:spPr>
          <a:xfrm>
            <a:off x="548640" y="347472"/>
            <a:ext cx="11064240" cy="731520"/>
          </a:xfrm>
          <a:prstGeom prst="rect">
            <a:avLst/>
          </a:prstGeom>
          <a:noFill/>
        </p:spPr>
        <p:txBody>
          <a:bodyPr wrap="square" lIns="36576" rIns="36576" tIns="18288" bIns="18288" anchor="t">
            <a:spAutoFit/>
          </a:bodyPr>
          <a:lstStyle/>
          <a:p>
            <a:pPr algn="l">
              <a:spcAft>
                <a:spcPts val="400"/>
              </a:spcAft>
            </a:pPr>
            <a:r>
              <a:rPr sz="3400" b="1" i="0">
                <a:solidFill>
                  <a:srgbClr val="0B1F3A"/>
                </a:solidFill>
                <a:latin typeface="Cambria"/>
              </a:rPr>
              <a:t>Live demo</a:t>
            </a:r>
          </a:p>
        </p:txBody>
      </p:sp>
      <p:sp>
        <p:nvSpPr>
          <p:cNvPr id="4" name="TextBox 3"/>
          <p:cNvSpPr txBox="1"/>
          <p:nvPr/>
        </p:nvSpPr>
        <p:spPr>
          <a:xfrm>
            <a:off x="566928" y="1024128"/>
            <a:ext cx="11064240" cy="411480"/>
          </a:xfrm>
          <a:prstGeom prst="rect">
            <a:avLst/>
          </a:prstGeom>
          <a:noFill/>
        </p:spPr>
        <p:txBody>
          <a:bodyPr wrap="square" lIns="36576" rIns="36576" tIns="18288" bIns="18288" anchor="t">
            <a:spAutoFit/>
          </a:bodyPr>
          <a:lstStyle/>
          <a:p>
            <a:pPr algn="l">
              <a:spcAft>
                <a:spcPts val="400"/>
              </a:spcAft>
            </a:pPr>
            <a:r>
              <a:rPr sz="1600" b="0" i="1">
                <a:solidFill>
                  <a:srgbClr val="5B6B7F"/>
                </a:solidFill>
                <a:latin typeface="Calibri"/>
              </a:rPr>
              <a:t>Streamlit UI on top of the FastAPI microservice</a:t>
            </a:r>
          </a:p>
        </p:txBody>
      </p:sp>
      <p:sp>
        <p:nvSpPr>
          <p:cNvPr id="5" name="Rounded Rectangle 4"/>
          <p:cNvSpPr/>
          <p:nvPr/>
        </p:nvSpPr>
        <p:spPr>
          <a:xfrm>
            <a:off x="548640" y="1783080"/>
            <a:ext cx="3520440" cy="19659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2011680"/>
            <a:ext cx="640080" cy="64008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7" name="TextBox 6"/>
          <p:cNvSpPr txBox="1"/>
          <p:nvPr/>
        </p:nvSpPr>
        <p:spPr>
          <a:xfrm>
            <a:off x="1554480" y="2084831"/>
            <a:ext cx="2377440" cy="457200"/>
          </a:xfrm>
          <a:prstGeom prst="rect">
            <a:avLst/>
          </a:prstGeom>
          <a:noFill/>
        </p:spPr>
        <p:txBody>
          <a:bodyPr wrap="square" lIns="36576" rIns="36576" tIns="18288" bIns="18288" anchor="t">
            <a:spAutoFit/>
          </a:bodyPr>
          <a:lstStyle/>
          <a:p>
            <a:pPr algn="l">
              <a:spcAft>
                <a:spcPts val="400"/>
              </a:spcAft>
            </a:pPr>
            <a:r>
              <a:rPr sz="1900" b="1" i="0">
                <a:solidFill>
                  <a:srgbClr val="0B1F3A"/>
                </a:solidFill>
                <a:latin typeface="Cambria"/>
              </a:rPr>
              <a:t>Ask</a:t>
            </a:r>
          </a:p>
        </p:txBody>
      </p:sp>
      <p:sp>
        <p:nvSpPr>
          <p:cNvPr id="8" name="TextBox 7"/>
          <p:cNvSpPr txBox="1"/>
          <p:nvPr/>
        </p:nvSpPr>
        <p:spPr>
          <a:xfrm>
            <a:off x="777240" y="2834639"/>
            <a:ext cx="3108960" cy="822960"/>
          </a:xfrm>
          <a:prstGeom prst="rect">
            <a:avLst/>
          </a:prstGeom>
          <a:noFill/>
        </p:spPr>
        <p:txBody>
          <a:bodyPr wrap="square" lIns="36576" rIns="36576" tIns="18288" bIns="18288" anchor="t">
            <a:spAutoFit/>
          </a:bodyPr>
          <a:lstStyle/>
          <a:p>
            <a:pPr algn="l">
              <a:spcAft>
                <a:spcPts val="400"/>
              </a:spcAft>
            </a:pPr>
            <a:r>
              <a:rPr sz="1400" b="0" i="0">
                <a:solidFill>
                  <a:srgbClr val="1B2635"/>
                </a:solidFill>
                <a:latin typeface="Calibri"/>
              </a:rPr>
              <a:t>brief question 1 → full multi-agent analysis</a:t>
            </a:r>
          </a:p>
        </p:txBody>
      </p:sp>
      <p:sp>
        <p:nvSpPr>
          <p:cNvPr id="9" name="Rounded Rectangle 8"/>
          <p:cNvSpPr/>
          <p:nvPr/>
        </p:nvSpPr>
        <p:spPr>
          <a:xfrm>
            <a:off x="4297679" y="1783080"/>
            <a:ext cx="3520440" cy="19659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26279" y="2011680"/>
            <a:ext cx="640080" cy="64008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5303519" y="2084831"/>
            <a:ext cx="2377440" cy="457200"/>
          </a:xfrm>
          <a:prstGeom prst="rect">
            <a:avLst/>
          </a:prstGeom>
          <a:noFill/>
        </p:spPr>
        <p:txBody>
          <a:bodyPr wrap="square" lIns="36576" rIns="36576" tIns="18288" bIns="18288" anchor="t">
            <a:spAutoFit/>
          </a:bodyPr>
          <a:lstStyle/>
          <a:p>
            <a:pPr algn="l">
              <a:spcAft>
                <a:spcPts val="400"/>
              </a:spcAft>
            </a:pPr>
            <a:r>
              <a:rPr sz="1900" b="1" i="0">
                <a:solidFill>
                  <a:srgbClr val="0B1F3A"/>
                </a:solidFill>
                <a:latin typeface="Cambria"/>
              </a:rPr>
              <a:t>Filter</a:t>
            </a:r>
          </a:p>
        </p:txBody>
      </p:sp>
      <p:sp>
        <p:nvSpPr>
          <p:cNvPr id="12" name="TextBox 11"/>
          <p:cNvSpPr txBox="1"/>
          <p:nvPr/>
        </p:nvSpPr>
        <p:spPr>
          <a:xfrm>
            <a:off x="4526279" y="2834639"/>
            <a:ext cx="3108960" cy="822960"/>
          </a:xfrm>
          <a:prstGeom prst="rect">
            <a:avLst/>
          </a:prstGeom>
          <a:noFill/>
        </p:spPr>
        <p:txBody>
          <a:bodyPr wrap="square" lIns="36576" rIns="36576" tIns="18288" bIns="18288" anchor="t">
            <a:spAutoFit/>
          </a:bodyPr>
          <a:lstStyle/>
          <a:p>
            <a:pPr algn="l">
              <a:spcAft>
                <a:spcPts val="400"/>
              </a:spcAft>
            </a:pPr>
            <a:r>
              <a:rPr sz="1400" b="0" i="0">
                <a:solidFill>
                  <a:srgbClr val="1B2635"/>
                </a:solidFill>
                <a:latin typeface="Calibri"/>
              </a:rPr>
              <a:t>hybrid vs keyword vs semantic; Winter, P1/P2, TX</a:t>
            </a:r>
          </a:p>
        </p:txBody>
      </p:sp>
      <p:sp>
        <p:nvSpPr>
          <p:cNvPr id="13" name="Rounded Rectangle 12"/>
          <p:cNvSpPr/>
          <p:nvPr/>
        </p:nvSpPr>
        <p:spPr>
          <a:xfrm>
            <a:off x="8046719" y="1783080"/>
            <a:ext cx="3520440" cy="19659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75319" y="2011680"/>
            <a:ext cx="640080" cy="64008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5" name="TextBox 14"/>
          <p:cNvSpPr txBox="1"/>
          <p:nvPr/>
        </p:nvSpPr>
        <p:spPr>
          <a:xfrm>
            <a:off x="9052559" y="2084831"/>
            <a:ext cx="2377440" cy="457200"/>
          </a:xfrm>
          <a:prstGeom prst="rect">
            <a:avLst/>
          </a:prstGeom>
          <a:noFill/>
        </p:spPr>
        <p:txBody>
          <a:bodyPr wrap="square" lIns="36576" rIns="36576" tIns="18288" bIns="18288" anchor="t">
            <a:spAutoFit/>
          </a:bodyPr>
          <a:lstStyle/>
          <a:p>
            <a:pPr algn="l">
              <a:spcAft>
                <a:spcPts val="400"/>
              </a:spcAft>
            </a:pPr>
            <a:r>
              <a:rPr sz="1900" b="1" i="0">
                <a:solidFill>
                  <a:srgbClr val="0B1F3A"/>
                </a:solidFill>
                <a:latin typeface="Cambria"/>
              </a:rPr>
              <a:t>Guardrails</a:t>
            </a:r>
          </a:p>
        </p:txBody>
      </p:sp>
      <p:sp>
        <p:nvSpPr>
          <p:cNvPr id="16" name="TextBox 15"/>
          <p:cNvSpPr txBox="1"/>
          <p:nvPr/>
        </p:nvSpPr>
        <p:spPr>
          <a:xfrm>
            <a:off x="8275319" y="2834639"/>
            <a:ext cx="3108960" cy="822960"/>
          </a:xfrm>
          <a:prstGeom prst="rect">
            <a:avLst/>
          </a:prstGeom>
          <a:noFill/>
        </p:spPr>
        <p:txBody>
          <a:bodyPr wrap="square" lIns="36576" rIns="36576" tIns="18288" bIns="18288" anchor="t">
            <a:spAutoFit/>
          </a:bodyPr>
          <a:lstStyle/>
          <a:p>
            <a:pPr algn="l">
              <a:spcAft>
                <a:spcPts val="400"/>
              </a:spcAft>
            </a:pPr>
            <a:r>
              <a:rPr sz="1400" b="0" i="0">
                <a:solidFill>
                  <a:srgbClr val="1B2635"/>
                </a:solidFill>
                <a:latin typeface="Calibri"/>
              </a:rPr>
              <a:t>prompt injection blocked, PII redacted</a:t>
            </a:r>
          </a:p>
        </p:txBody>
      </p:sp>
      <p:sp>
        <p:nvSpPr>
          <p:cNvPr id="17" name="Rounded Rectangle 16"/>
          <p:cNvSpPr/>
          <p:nvPr/>
        </p:nvSpPr>
        <p:spPr>
          <a:xfrm>
            <a:off x="548640" y="4023360"/>
            <a:ext cx="3520440" cy="19659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77240" y="4251960"/>
            <a:ext cx="640080" cy="64008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19" name="TextBox 18"/>
          <p:cNvSpPr txBox="1"/>
          <p:nvPr/>
        </p:nvSpPr>
        <p:spPr>
          <a:xfrm>
            <a:off x="1554480" y="4325112"/>
            <a:ext cx="2377440" cy="457200"/>
          </a:xfrm>
          <a:prstGeom prst="rect">
            <a:avLst/>
          </a:prstGeom>
          <a:noFill/>
        </p:spPr>
        <p:txBody>
          <a:bodyPr wrap="square" lIns="36576" rIns="36576" tIns="18288" bIns="18288" anchor="t">
            <a:spAutoFit/>
          </a:bodyPr>
          <a:lstStyle/>
          <a:p>
            <a:pPr algn="l">
              <a:spcAft>
                <a:spcPts val="400"/>
              </a:spcAft>
            </a:pPr>
            <a:r>
              <a:rPr sz="1900" b="1" i="0">
                <a:solidFill>
                  <a:srgbClr val="0B1F3A"/>
                </a:solidFill>
                <a:latin typeface="Cambria"/>
              </a:rPr>
              <a:t>Prioritise</a:t>
            </a:r>
          </a:p>
        </p:txBody>
      </p:sp>
      <p:sp>
        <p:nvSpPr>
          <p:cNvPr id="20" name="TextBox 19"/>
          <p:cNvSpPr txBox="1"/>
          <p:nvPr/>
        </p:nvSpPr>
        <p:spPr>
          <a:xfrm>
            <a:off x="777240" y="5074920"/>
            <a:ext cx="3108960" cy="822960"/>
          </a:xfrm>
          <a:prstGeom prst="rect">
            <a:avLst/>
          </a:prstGeom>
          <a:noFill/>
        </p:spPr>
        <p:txBody>
          <a:bodyPr wrap="square" lIns="36576" rIns="36576" tIns="18288" bIns="18288" anchor="t">
            <a:spAutoFit/>
          </a:bodyPr>
          <a:lstStyle/>
          <a:p>
            <a:pPr algn="l">
              <a:spcAft>
                <a:spcPts val="400"/>
              </a:spcAft>
            </a:pPr>
            <a:r>
              <a:rPr sz="1400" b="0" i="0">
                <a:solidFill>
                  <a:srgbClr val="1B2635"/>
                </a:solidFill>
                <a:latin typeface="Calibri"/>
              </a:rPr>
              <a:t>batch of incidents ranked P1 → P4</a:t>
            </a:r>
          </a:p>
        </p:txBody>
      </p:sp>
      <p:sp>
        <p:nvSpPr>
          <p:cNvPr id="21" name="Rounded Rectangle 20"/>
          <p:cNvSpPr/>
          <p:nvPr/>
        </p:nvSpPr>
        <p:spPr>
          <a:xfrm>
            <a:off x="4297679" y="4023360"/>
            <a:ext cx="3520440" cy="19659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6279" y="4251960"/>
            <a:ext cx="640080" cy="64008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5</a:t>
            </a:r>
          </a:p>
        </p:txBody>
      </p:sp>
      <p:sp>
        <p:nvSpPr>
          <p:cNvPr id="23" name="TextBox 22"/>
          <p:cNvSpPr txBox="1"/>
          <p:nvPr/>
        </p:nvSpPr>
        <p:spPr>
          <a:xfrm>
            <a:off x="5303519" y="4325112"/>
            <a:ext cx="2377440" cy="457200"/>
          </a:xfrm>
          <a:prstGeom prst="rect">
            <a:avLst/>
          </a:prstGeom>
          <a:noFill/>
        </p:spPr>
        <p:txBody>
          <a:bodyPr wrap="square" lIns="36576" rIns="36576" tIns="18288" bIns="18288" anchor="t">
            <a:spAutoFit/>
          </a:bodyPr>
          <a:lstStyle/>
          <a:p>
            <a:pPr algn="l">
              <a:spcAft>
                <a:spcPts val="400"/>
              </a:spcAft>
            </a:pPr>
            <a:r>
              <a:rPr sz="1900" b="1" i="0">
                <a:solidFill>
                  <a:srgbClr val="0B1F3A"/>
                </a:solidFill>
                <a:latin typeface="Cambria"/>
              </a:rPr>
              <a:t>What-if</a:t>
            </a:r>
          </a:p>
        </p:txBody>
      </p:sp>
      <p:sp>
        <p:nvSpPr>
          <p:cNvPr id="24" name="TextBox 23"/>
          <p:cNvSpPr txBox="1"/>
          <p:nvPr/>
        </p:nvSpPr>
        <p:spPr>
          <a:xfrm>
            <a:off x="4526279" y="5074920"/>
            <a:ext cx="3108960" cy="822960"/>
          </a:xfrm>
          <a:prstGeom prst="rect">
            <a:avLst/>
          </a:prstGeom>
          <a:noFill/>
        </p:spPr>
        <p:txBody>
          <a:bodyPr wrap="square" lIns="36576" rIns="36576" tIns="18288" bIns="18288" anchor="t">
            <a:spAutoFit/>
          </a:bodyPr>
          <a:lstStyle/>
          <a:p>
            <a:pPr algn="l">
              <a:spcAft>
                <a:spcPts val="400"/>
              </a:spcAft>
            </a:pPr>
            <a:r>
              <a:rPr sz="1400" b="0" i="0">
                <a:solidFill>
                  <a:srgbClr val="1B2635"/>
                </a:solidFill>
                <a:latin typeface="Calibri"/>
              </a:rPr>
              <a:t>risk and performance predictor with drivers</a:t>
            </a:r>
          </a:p>
        </p:txBody>
      </p:sp>
      <p:sp>
        <p:nvSpPr>
          <p:cNvPr id="25" name="Rounded Rectangle 24"/>
          <p:cNvSpPr/>
          <p:nvPr/>
        </p:nvSpPr>
        <p:spPr>
          <a:xfrm>
            <a:off x="8046719" y="4023360"/>
            <a:ext cx="3520440" cy="19659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75319" y="4251960"/>
            <a:ext cx="640080" cy="64008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6</a:t>
            </a:r>
          </a:p>
        </p:txBody>
      </p:sp>
      <p:sp>
        <p:nvSpPr>
          <p:cNvPr id="27" name="TextBox 26"/>
          <p:cNvSpPr txBox="1"/>
          <p:nvPr/>
        </p:nvSpPr>
        <p:spPr>
          <a:xfrm>
            <a:off x="9052559" y="4325112"/>
            <a:ext cx="2377440" cy="457200"/>
          </a:xfrm>
          <a:prstGeom prst="rect">
            <a:avLst/>
          </a:prstGeom>
          <a:noFill/>
        </p:spPr>
        <p:txBody>
          <a:bodyPr wrap="square" lIns="36576" rIns="36576" tIns="18288" bIns="18288" anchor="t">
            <a:spAutoFit/>
          </a:bodyPr>
          <a:lstStyle/>
          <a:p>
            <a:pPr algn="l">
              <a:spcAft>
                <a:spcPts val="400"/>
              </a:spcAft>
            </a:pPr>
            <a:r>
              <a:rPr sz="1900" b="1" i="0">
                <a:solidFill>
                  <a:srgbClr val="0B1F3A"/>
                </a:solidFill>
                <a:latin typeface="Cambria"/>
              </a:rPr>
              <a:t>Feedback</a:t>
            </a:r>
          </a:p>
        </p:txBody>
      </p:sp>
      <p:sp>
        <p:nvSpPr>
          <p:cNvPr id="28" name="TextBox 27"/>
          <p:cNvSpPr txBox="1"/>
          <p:nvPr/>
        </p:nvSpPr>
        <p:spPr>
          <a:xfrm>
            <a:off x="8275319" y="5074920"/>
            <a:ext cx="3108960" cy="822960"/>
          </a:xfrm>
          <a:prstGeom prst="rect">
            <a:avLst/>
          </a:prstGeom>
          <a:noFill/>
        </p:spPr>
        <p:txBody>
          <a:bodyPr wrap="square" lIns="36576" rIns="36576" tIns="18288" bIns="18288" anchor="t">
            <a:spAutoFit/>
          </a:bodyPr>
          <a:lstStyle/>
          <a:p>
            <a:pPr algn="l">
              <a:spcAft>
                <a:spcPts val="400"/>
              </a:spcAft>
            </a:pPr>
            <a:r>
              <a:rPr sz="1400" b="0" i="0">
                <a:solidFill>
                  <a:srgbClr val="1B2635"/>
                </a:solidFill>
                <a:latin typeface="Calibri"/>
              </a:rPr>
              <a:t>rate → monitoring and feedback dashboard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11155680" y="6400800"/>
            <a:ext cx="731520" cy="274320"/>
          </a:xfrm>
          <a:prstGeom prst="rect">
            <a:avLst/>
          </a:prstGeom>
          <a:noFill/>
        </p:spPr>
        <p:txBody>
          <a:bodyPr wrap="square" lIns="36576" rIns="36576" tIns="18288" bIns="18288" anchor="t">
            <a:spAutoFit/>
          </a:bodyPr>
          <a:lstStyle/>
          <a:p>
            <a:pPr algn="r">
              <a:spcAft>
                <a:spcPts val="400"/>
              </a:spcAft>
            </a:pPr>
            <a:r>
              <a:rPr sz="1000" b="0" i="0">
                <a:solidFill>
                  <a:srgbClr val="CFE8EC"/>
                </a:solidFill>
                <a:latin typeface="Calibri"/>
              </a:rPr>
              <a:t>12</a:t>
            </a:r>
          </a:p>
        </p:txBody>
      </p:sp>
      <p:sp>
        <p:nvSpPr>
          <p:cNvPr id="3" name="Title"/>
          <p:cNvSpPr txBox="1"/>
          <p:nvPr/>
        </p:nvSpPr>
        <p:spPr>
          <a:xfrm>
            <a:off x="548640" y="347472"/>
            <a:ext cx="11064240" cy="731520"/>
          </a:xfrm>
          <a:prstGeom prst="rect">
            <a:avLst/>
          </a:prstGeom>
          <a:noFill/>
        </p:spPr>
        <p:txBody>
          <a:bodyPr wrap="square" lIns="36576" rIns="36576" tIns="18288" bIns="18288" anchor="t">
            <a:spAutoFit/>
          </a:bodyPr>
          <a:lstStyle/>
          <a:p>
            <a:pPr algn="l">
              <a:spcAft>
                <a:spcPts val="400"/>
              </a:spcAft>
            </a:pPr>
            <a:r>
              <a:rPr sz="3400" b="1" i="0">
                <a:solidFill>
                  <a:srgbClr val="FFFFFF"/>
                </a:solidFill>
                <a:latin typeface="Cambria"/>
              </a:rPr>
              <a:t>Trade-offs we chose, and what comes next</a:t>
            </a:r>
          </a:p>
        </p:txBody>
      </p:sp>
      <p:sp>
        <p:nvSpPr>
          <p:cNvPr id="4" name="TextBox 3"/>
          <p:cNvSpPr txBox="1"/>
          <p:nvPr/>
        </p:nvSpPr>
        <p:spPr>
          <a:xfrm>
            <a:off x="548640" y="1371600"/>
            <a:ext cx="5486400" cy="411480"/>
          </a:xfrm>
          <a:prstGeom prst="rect">
            <a:avLst/>
          </a:prstGeom>
          <a:noFill/>
        </p:spPr>
        <p:txBody>
          <a:bodyPr wrap="square" lIns="36576" rIns="36576" tIns="18288" bIns="18288" anchor="t">
            <a:spAutoFit/>
          </a:bodyPr>
          <a:lstStyle/>
          <a:p>
            <a:pPr algn="l">
              <a:spcAft>
                <a:spcPts val="400"/>
              </a:spcAft>
            </a:pPr>
            <a:r>
              <a:rPr sz="2000" b="1" i="0">
                <a:solidFill>
                  <a:srgbClr val="F2A541"/>
                </a:solidFill>
                <a:latin typeface="Cambria"/>
              </a:rPr>
              <a:t>Deliberate trade-offs</a:t>
            </a:r>
          </a:p>
        </p:txBody>
      </p:sp>
      <p:sp>
        <p:nvSpPr>
          <p:cNvPr id="5" name="TextBox 4"/>
          <p:cNvSpPr txBox="1"/>
          <p:nvPr/>
        </p:nvSpPr>
        <p:spPr>
          <a:xfrm>
            <a:off x="548640" y="1874519"/>
            <a:ext cx="5486400" cy="4206240"/>
          </a:xfrm>
          <a:prstGeom prst="rect">
            <a:avLst/>
          </a:prstGeom>
          <a:noFill/>
        </p:spPr>
        <p:txBody>
          <a:bodyPr wrap="square">
            <a:spAutoFit/>
          </a:bodyPr>
          <a:lstStyle/>
          <a:p>
            <a:pPr>
              <a:spcAft>
                <a:spcPts val="900"/>
              </a:spcAft>
            </a:pPr>
            <a:r>
              <a:rPr sz="1500">
                <a:solidFill>
                  <a:srgbClr val="0E9AA7"/>
                </a:solidFill>
                <a:latin typeface="Calibri"/>
              </a:rPr>
              <a:t>▸  </a:t>
            </a:r>
            <a:r>
              <a:rPr sz="1500" b="1">
                <a:solidFill>
                  <a:srgbClr val="FFFFFF"/>
                </a:solidFill>
                <a:latin typeface="Calibri"/>
              </a:rPr>
              <a:t>Deterministic core, LLM for language: </a:t>
            </a:r>
            <a:r>
              <a:rPr sz="1500">
                <a:solidFill>
                  <a:srgbClr val="FFFFFF"/>
                </a:solidFill>
                <a:latin typeface="Calibri"/>
              </a:rPr>
              <a:t>always available and cheap; less fluent offline</a:t>
            </a:r>
          </a:p>
          <a:p>
            <a:pPr>
              <a:spcAft>
                <a:spcPts val="900"/>
              </a:spcAft>
            </a:pPr>
            <a:r>
              <a:rPr sz="1500">
                <a:solidFill>
                  <a:srgbClr val="0E9AA7"/>
                </a:solidFill>
                <a:latin typeface="Calibri"/>
              </a:rPr>
              <a:t>▸  </a:t>
            </a:r>
            <a:r>
              <a:rPr sz="1500" b="1">
                <a:solidFill>
                  <a:srgbClr val="FFFFFF"/>
                </a:solidFill>
                <a:latin typeface="Calibri"/>
              </a:rPr>
              <a:t>Exact FAISS at 100K: </a:t>
            </a:r>
            <a:r>
              <a:rPr sz="1500">
                <a:solidFill>
                  <a:srgbClr val="FFFFFF"/>
                </a:solidFill>
                <a:latin typeface="Calibri"/>
              </a:rPr>
              <a:t>no recall loss; move to ANN / managed vector DB beyond about 5M vectors</a:t>
            </a:r>
          </a:p>
          <a:p>
            <a:pPr>
              <a:spcAft>
                <a:spcPts val="900"/>
              </a:spcAft>
            </a:pPr>
            <a:r>
              <a:rPr sz="1500">
                <a:solidFill>
                  <a:srgbClr val="0E9AA7"/>
                </a:solidFill>
                <a:latin typeface="Calibri"/>
              </a:rPr>
              <a:t>▸  </a:t>
            </a:r>
            <a:r>
              <a:rPr sz="1500" b="1">
                <a:solidFill>
                  <a:srgbClr val="FFFFFF"/>
                </a:solidFill>
                <a:latin typeface="Calibri"/>
              </a:rPr>
              <a:t>Small LLMs (4o-mini / Flash / Haiku): </a:t>
            </a:r>
            <a:r>
              <a:rPr sz="1500">
                <a:solidFill>
                  <a:srgbClr val="FFFFFF"/>
                </a:solidFill>
                <a:latin typeface="Calibri"/>
              </a:rPr>
              <a:t>evidence-bound prompts do not need large models</a:t>
            </a:r>
          </a:p>
          <a:p>
            <a:pPr>
              <a:spcAft>
                <a:spcPts val="900"/>
              </a:spcAft>
            </a:pPr>
            <a:r>
              <a:rPr sz="1500">
                <a:solidFill>
                  <a:srgbClr val="0E9AA7"/>
                </a:solidFill>
                <a:latin typeface="Calibri"/>
              </a:rPr>
              <a:t>▸  </a:t>
            </a:r>
            <a:r>
              <a:rPr sz="1500" b="1">
                <a:solidFill>
                  <a:srgbClr val="FFFFFF"/>
                </a:solidFill>
                <a:latin typeface="Calibri"/>
              </a:rPr>
              <a:t>Percentile thresholds: </a:t>
            </a:r>
            <a:r>
              <a:rPr sz="1500">
                <a:solidFill>
                  <a:srgbClr val="FFFFFF"/>
                </a:solidFill>
                <a:latin typeface="Calibri"/>
              </a:rPr>
              <a:t>adapt to the fleet, but are relative rather than 3GPP targets</a:t>
            </a:r>
          </a:p>
        </p:txBody>
      </p:sp>
      <p:sp>
        <p:nvSpPr>
          <p:cNvPr id="6" name="TextBox 5"/>
          <p:cNvSpPr txBox="1"/>
          <p:nvPr/>
        </p:nvSpPr>
        <p:spPr>
          <a:xfrm>
            <a:off x="6400800" y="1371600"/>
            <a:ext cx="5303520" cy="411480"/>
          </a:xfrm>
          <a:prstGeom prst="rect">
            <a:avLst/>
          </a:prstGeom>
          <a:noFill/>
        </p:spPr>
        <p:txBody>
          <a:bodyPr wrap="square" lIns="36576" rIns="36576" tIns="18288" bIns="18288" anchor="t">
            <a:spAutoFit/>
          </a:bodyPr>
          <a:lstStyle/>
          <a:p>
            <a:pPr algn="l">
              <a:spcAft>
                <a:spcPts val="400"/>
              </a:spcAft>
            </a:pPr>
            <a:r>
              <a:rPr sz="2000" b="1" i="0">
                <a:solidFill>
                  <a:srgbClr val="F2A541"/>
                </a:solidFill>
                <a:latin typeface="Cambria"/>
              </a:rPr>
              <a:t>Next steps</a:t>
            </a:r>
          </a:p>
        </p:txBody>
      </p:sp>
      <p:sp>
        <p:nvSpPr>
          <p:cNvPr id="7" name="TextBox 6"/>
          <p:cNvSpPr txBox="1"/>
          <p:nvPr/>
        </p:nvSpPr>
        <p:spPr>
          <a:xfrm>
            <a:off x="6400800" y="1874519"/>
            <a:ext cx="5212080" cy="4206240"/>
          </a:xfrm>
          <a:prstGeom prst="rect">
            <a:avLst/>
          </a:prstGeom>
          <a:noFill/>
        </p:spPr>
        <p:txBody>
          <a:bodyPr wrap="square">
            <a:spAutoFit/>
          </a:bodyPr>
          <a:lstStyle/>
          <a:p>
            <a:pPr>
              <a:spcAft>
                <a:spcPts val="900"/>
              </a:spcAft>
            </a:pPr>
            <a:r>
              <a:rPr sz="1500">
                <a:solidFill>
                  <a:srgbClr val="0E9AA7"/>
                </a:solidFill>
                <a:latin typeface="Calibri"/>
              </a:rPr>
              <a:t>▸  </a:t>
            </a:r>
            <a:r>
              <a:rPr sz="1500" b="1">
                <a:solidFill>
                  <a:srgbClr val="FFFFFF"/>
                </a:solidFill>
                <a:latin typeface="Calibri"/>
              </a:rPr>
              <a:t>Real data: </a:t>
            </a:r>
            <a:r>
              <a:rPr sz="1500">
                <a:solidFill>
                  <a:srgbClr val="FFFFFF"/>
                </a:solidFill>
                <a:latin typeface="Calibri"/>
              </a:rPr>
              <a:t>retrain on live KPIs with timestamps and cell topology</a:t>
            </a:r>
          </a:p>
          <a:p>
            <a:pPr>
              <a:spcAft>
                <a:spcPts val="900"/>
              </a:spcAft>
            </a:pPr>
            <a:r>
              <a:rPr sz="1500">
                <a:solidFill>
                  <a:srgbClr val="0E9AA7"/>
                </a:solidFill>
                <a:latin typeface="Calibri"/>
              </a:rPr>
              <a:t>▸  </a:t>
            </a:r>
            <a:r>
              <a:rPr sz="1500" b="1">
                <a:solidFill>
                  <a:srgbClr val="FFFFFF"/>
                </a:solidFill>
                <a:latin typeface="Calibri"/>
              </a:rPr>
              <a:t>Retrieval: </a:t>
            </a:r>
            <a:r>
              <a:rPr sz="1500">
                <a:solidFill>
                  <a:srgbClr val="FFFFFF"/>
                </a:solidFill>
                <a:latin typeface="Calibri"/>
              </a:rPr>
              <a:t>cross-encoder re-ranker, LLM query rewriting</a:t>
            </a:r>
          </a:p>
          <a:p>
            <a:pPr>
              <a:spcAft>
                <a:spcPts val="900"/>
              </a:spcAft>
            </a:pPr>
            <a:r>
              <a:rPr sz="1500">
                <a:solidFill>
                  <a:srgbClr val="0E9AA7"/>
                </a:solidFill>
                <a:latin typeface="Calibri"/>
              </a:rPr>
              <a:t>▸  </a:t>
            </a:r>
            <a:r>
              <a:rPr sz="1500" b="1">
                <a:solidFill>
                  <a:srgbClr val="FFFFFF"/>
                </a:solidFill>
                <a:latin typeface="Calibri"/>
              </a:rPr>
              <a:t>Ops: </a:t>
            </a:r>
            <a:r>
              <a:rPr sz="1500">
                <a:solidFill>
                  <a:srgbClr val="FFFFFF"/>
                </a:solidFill>
                <a:latin typeface="Calibri"/>
              </a:rPr>
              <a:t>Azure Container Apps, Azure AI Search, Prometheus / Azure Monitor</a:t>
            </a:r>
          </a:p>
          <a:p>
            <a:pPr>
              <a:spcAft>
                <a:spcPts val="900"/>
              </a:spcAft>
            </a:pPr>
            <a:r>
              <a:rPr sz="1500">
                <a:solidFill>
                  <a:srgbClr val="0E9AA7"/>
                </a:solidFill>
                <a:latin typeface="Calibri"/>
              </a:rPr>
              <a:t>▸  </a:t>
            </a:r>
            <a:r>
              <a:rPr sz="1500" b="1">
                <a:solidFill>
                  <a:srgbClr val="FFFFFF"/>
                </a:solidFill>
                <a:latin typeface="Calibri"/>
              </a:rPr>
              <a:t>Learning: </a:t>
            </a:r>
            <a:r>
              <a:rPr sz="1500">
                <a:solidFill>
                  <a:srgbClr val="FFFFFF"/>
                </a:solidFill>
                <a:latin typeface="Calibri"/>
              </a:rPr>
              <a:t>A/B tests on feedback ranking, retrain the classifier on corrections</a:t>
            </a:r>
          </a:p>
        </p:txBody>
      </p:sp>
      <p:sp>
        <p:nvSpPr>
          <p:cNvPr id="8" name="TextBox 7"/>
          <p:cNvSpPr txBox="1"/>
          <p:nvPr/>
        </p:nvSpPr>
        <p:spPr>
          <a:xfrm>
            <a:off x="548640" y="5989320"/>
            <a:ext cx="11064240" cy="457200"/>
          </a:xfrm>
          <a:prstGeom prst="rect">
            <a:avLst/>
          </a:prstGeom>
          <a:noFill/>
        </p:spPr>
        <p:txBody>
          <a:bodyPr wrap="square" lIns="36576" rIns="36576" tIns="18288" bIns="18288" anchor="t">
            <a:spAutoFit/>
          </a:bodyPr>
          <a:lstStyle/>
          <a:p>
            <a:pPr algn="ctr">
              <a:spcAft>
                <a:spcPts val="400"/>
              </a:spcAft>
            </a:pPr>
            <a:r>
              <a:rPr sz="2200" b="1" i="0">
                <a:solidFill>
                  <a:srgbClr val="FFFFFF"/>
                </a:solidFill>
                <a:latin typeface="Cambria"/>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